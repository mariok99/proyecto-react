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5"/>
  </p:sldMasterIdLst>
  <p:notesMasterIdLst>
    <p:notesMasterId r:id="rId31"/>
  </p:notesMasterIdLst>
  <p:sldIdLst>
    <p:sldId id="348" r:id="rId6"/>
    <p:sldId id="371" r:id="rId7"/>
    <p:sldId id="365" r:id="rId8"/>
    <p:sldId id="366" r:id="rId9"/>
    <p:sldId id="361" r:id="rId10"/>
    <p:sldId id="372" r:id="rId11"/>
    <p:sldId id="334" r:id="rId12"/>
    <p:sldId id="370" r:id="rId13"/>
    <p:sldId id="349" r:id="rId14"/>
    <p:sldId id="350" r:id="rId15"/>
    <p:sldId id="351" r:id="rId16"/>
    <p:sldId id="352" r:id="rId17"/>
    <p:sldId id="353" r:id="rId18"/>
    <p:sldId id="354" r:id="rId19"/>
    <p:sldId id="359" r:id="rId20"/>
    <p:sldId id="356" r:id="rId21"/>
    <p:sldId id="367" r:id="rId22"/>
    <p:sldId id="364" r:id="rId23"/>
    <p:sldId id="368" r:id="rId24"/>
    <p:sldId id="369" r:id="rId25"/>
    <p:sldId id="256" r:id="rId26"/>
    <p:sldId id="260" r:id="rId27"/>
    <p:sldId id="261" r:id="rId28"/>
    <p:sldId id="259" r:id="rId29"/>
    <p:sldId id="373" r:id="rId30"/>
  </p:sldIdLst>
  <p:sldSz cx="9144000" cy="5143500" type="screen16x9"/>
  <p:notesSz cx="6934200" cy="9220200"/>
  <p:defaultTextStyle>
    <a:defPPr>
      <a:defRPr lang="en-US"/>
    </a:defPPr>
    <a:lvl1pPr marL="0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41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282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423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564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705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846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6988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5129" algn="l" defTabSz="8162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5">
          <p15:clr>
            <a:srgbClr val="A4A3A4"/>
          </p15:clr>
        </p15:guide>
        <p15:guide id="2" orient="horz" pos="775">
          <p15:clr>
            <a:srgbClr val="A4A3A4"/>
          </p15:clr>
        </p15:guide>
        <p15:guide id="3" pos="5629">
          <p15:clr>
            <a:srgbClr val="A4A3A4"/>
          </p15:clr>
        </p15:guide>
        <p15:guide id="4" pos="295">
          <p15:clr>
            <a:srgbClr val="A4A3A4"/>
          </p15:clr>
        </p15:guide>
        <p15:guide id="5" pos="55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ffart, Johannes [Tech]" initials="HJ[" lastIdx="1" clrIdx="0">
    <p:extLst>
      <p:ext uri="{19B8F6BF-5375-455C-9EA6-DF929625EA0E}">
        <p15:presenceInfo xmlns:p15="http://schemas.microsoft.com/office/powerpoint/2012/main" userId="S-1-5-21-17057075-1353262022-786498627-25302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FFD457"/>
    <a:srgbClr val="717578"/>
    <a:srgbClr val="706F72"/>
    <a:srgbClr val="7399C6"/>
    <a:srgbClr val="007DB1"/>
    <a:srgbClr val="2689CD"/>
    <a:srgbClr val="5183BD"/>
    <a:srgbClr val="80B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6" autoAdjust="0"/>
    <p:restoredTop sz="94351" autoAdjust="0"/>
  </p:normalViewPr>
  <p:slideViewPr>
    <p:cSldViewPr snapToGrid="0" snapToObjects="1">
      <p:cViewPr varScale="1">
        <p:scale>
          <a:sx n="103" d="100"/>
          <a:sy n="103" d="100"/>
        </p:scale>
        <p:origin x="1256" y="144"/>
      </p:cViewPr>
      <p:guideLst>
        <p:guide orient="horz" pos="3145"/>
        <p:guide orient="horz" pos="775"/>
        <p:guide pos="5629"/>
        <p:guide pos="295"/>
        <p:guide pos="55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5" d="100"/>
          <a:sy n="115" d="100"/>
        </p:scale>
        <p:origin x="7278" y="84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46800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2" tIns="46145" rIns="92292" bIns="4614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2" tIns="46145" rIns="92292" bIns="46145" rtlCol="0">
            <a:normAutofit/>
          </a:bodyPr>
          <a:lstStyle/>
          <a:p>
            <a:pPr marL="0" marR="0" lvl="0" indent="0" algn="l" defTabSz="1028309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1707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68241" marR="0" lvl="1" indent="-168241" algn="l" defTabSz="1028309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55629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7697" marR="0" lvl="2" indent="-179455" algn="l" defTabSz="1028309" rtl="0" eaLnBrk="1" fontAlgn="auto" latinLnBrk="0" hangingPunct="1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rgbClr val="55629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515934" marR="0" lvl="3" indent="-168241" algn="l" defTabSz="1028309" rtl="0" eaLnBrk="1" fontAlgn="auto" latinLnBrk="0" hangingPunct="1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rgbClr val="55629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695389" marR="0" lvl="4" indent="-179455" algn="l" defTabSz="1028309" rtl="0" eaLnBrk="1" fontAlgn="auto" latinLnBrk="0" hangingPunct="1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rgbClr val="55629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2" tIns="46145" rIns="92292" bIns="46145" rtlCol="0" anchor="b"/>
          <a:lstStyle>
            <a:lvl1pPr algn="r">
              <a:defRPr sz="1300"/>
            </a:lvl1pPr>
          </a:lstStyle>
          <a:p>
            <a:fld id="{DB4E1C98-C972-4AD3-8BF2-87AB2DF826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494541" y="930369"/>
            <a:ext cx="966107" cy="2766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56:105:174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-1497752" y="3143217"/>
            <a:ext cx="966107" cy="276606"/>
          </a:xfrm>
          <a:prstGeom prst="rect">
            <a:avLst/>
          </a:prstGeom>
          <a:solidFill>
            <a:srgbClr val="67C6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103:198:184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497752" y="1206975"/>
            <a:ext cx="966107" cy="2766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230:212:80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1497752" y="1760187"/>
            <a:ext cx="966107" cy="2766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144:147:181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1497752" y="1483581"/>
            <a:ext cx="966107" cy="2766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21:55:94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497752" y="2866611"/>
            <a:ext cx="966107" cy="276606"/>
          </a:xfrm>
          <a:prstGeom prst="rect">
            <a:avLst/>
          </a:prstGeom>
          <a:solidFill>
            <a:srgbClr val="569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86:155:190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1497752" y="2036793"/>
            <a:ext cx="966107" cy="2766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70:70:70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497752" y="2313399"/>
            <a:ext cx="966107" cy="2766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148:134:113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1497752" y="4249641"/>
            <a:ext cx="966107" cy="276606"/>
          </a:xfrm>
          <a:prstGeom prst="rect">
            <a:avLst/>
          </a:prstGeom>
          <a:solidFill>
            <a:srgbClr val="C9C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201:206:225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1497752" y="3419823"/>
            <a:ext cx="966107" cy="276606"/>
          </a:xfrm>
          <a:prstGeom prst="rect">
            <a:avLst/>
          </a:prstGeom>
          <a:solidFill>
            <a:srgbClr val="6CA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108:172:222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1497752" y="4526247"/>
            <a:ext cx="966107" cy="276606"/>
          </a:xfrm>
          <a:prstGeom prst="rect">
            <a:avLst/>
          </a:prstGeom>
          <a:solidFill>
            <a:srgbClr val="A8DB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168:219:212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1497752" y="3696429"/>
            <a:ext cx="966107" cy="276606"/>
          </a:xfrm>
          <a:prstGeom prst="rect">
            <a:avLst/>
          </a:prstGeom>
          <a:solidFill>
            <a:srgbClr val="ACD4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172:212:241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497752" y="3973035"/>
            <a:ext cx="966107" cy="276606"/>
          </a:xfrm>
          <a:prstGeom prst="rect">
            <a:avLst/>
          </a:prstGeom>
          <a:solidFill>
            <a:srgbClr val="7978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121:120:121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-1497752" y="4802853"/>
            <a:ext cx="966107" cy="276606"/>
          </a:xfrm>
          <a:prstGeom prst="rect">
            <a:avLst/>
          </a:prstGeom>
          <a:solidFill>
            <a:srgbClr val="D9CF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217:207:192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1497752" y="5632671"/>
            <a:ext cx="966107" cy="276606"/>
          </a:xfrm>
          <a:prstGeom prst="rect">
            <a:avLst/>
          </a:prstGeom>
          <a:solidFill>
            <a:srgbClr val="F5E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245:237:189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2594121" y="5646840"/>
            <a:ext cx="1100990" cy="245932"/>
          </a:xfrm>
          <a:prstGeom prst="rect">
            <a:avLst/>
          </a:prstGeom>
          <a:noFill/>
        </p:spPr>
        <p:txBody>
          <a:bodyPr wrap="none" lIns="92292" tIns="46145" rIns="92292" bIns="46145" rtlCol="0">
            <a:spAutoFit/>
          </a:bodyPr>
          <a:lstStyle/>
          <a:p>
            <a:pPr algn="r"/>
            <a:r>
              <a:rPr lang="en-US" sz="1000" b="1" dirty="0"/>
              <a:t>Table Highlight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-1497752" y="5356065"/>
            <a:ext cx="966107" cy="276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85:98:146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2324572" y="5370234"/>
            <a:ext cx="831441" cy="245932"/>
          </a:xfrm>
          <a:prstGeom prst="rect">
            <a:avLst/>
          </a:prstGeom>
          <a:noFill/>
        </p:spPr>
        <p:txBody>
          <a:bodyPr wrap="none" lIns="92292" tIns="46145" rIns="92292" bIns="46145" rtlCol="0">
            <a:spAutoFit/>
          </a:bodyPr>
          <a:lstStyle/>
          <a:p>
            <a:pPr algn="r"/>
            <a:r>
              <a:rPr lang="en-US" sz="1000" b="1" dirty="0"/>
              <a:t>Object fills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-1497752" y="2590005"/>
            <a:ext cx="966107" cy="276606"/>
          </a:xfrm>
          <a:prstGeom prst="rect">
            <a:avLst/>
          </a:prstGeom>
          <a:solidFill>
            <a:srgbClr val="F89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248:156:87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1497752" y="5079459"/>
            <a:ext cx="966107" cy="276606"/>
          </a:xfrm>
          <a:prstGeom prst="rect">
            <a:avLst/>
          </a:prstGeom>
          <a:solidFill>
            <a:srgbClr val="A9D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459" tIns="18459" rIns="18459" bIns="46145" rtlCol="0" anchor="b" anchorCtr="0"/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169:222:234</a:t>
            </a:r>
          </a:p>
        </p:txBody>
      </p:sp>
      <p:sp>
        <p:nvSpPr>
          <p:cNvPr id="28" name="Left Brace 27"/>
          <p:cNvSpPr/>
          <p:nvPr/>
        </p:nvSpPr>
        <p:spPr>
          <a:xfrm>
            <a:off x="-1794976" y="930369"/>
            <a:ext cx="297225" cy="2212848"/>
          </a:xfrm>
          <a:prstGeom prst="leftBrace">
            <a:avLst>
              <a:gd name="adj1" fmla="val 47216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2292" tIns="46145" rIns="92292" bIns="46145" rtlCol="0" anchor="ctr"/>
          <a:lstStyle/>
          <a:p>
            <a:pPr algn="ctr"/>
            <a:endParaRPr lang="en-US"/>
          </a:p>
        </p:txBody>
      </p:sp>
      <p:sp>
        <p:nvSpPr>
          <p:cNvPr id="29" name="Left Brace 28"/>
          <p:cNvSpPr/>
          <p:nvPr/>
        </p:nvSpPr>
        <p:spPr>
          <a:xfrm>
            <a:off x="-1794976" y="3157384"/>
            <a:ext cx="297225" cy="2212848"/>
          </a:xfrm>
          <a:prstGeom prst="leftBrace">
            <a:avLst>
              <a:gd name="adj1" fmla="val 47216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2292" tIns="46145" rIns="92292" bIns="46145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-2450417" y="1837514"/>
            <a:ext cx="655442" cy="398558"/>
          </a:xfrm>
          <a:prstGeom prst="rect">
            <a:avLst/>
          </a:prstGeom>
          <a:noFill/>
        </p:spPr>
        <p:txBody>
          <a:bodyPr wrap="none" lIns="92292" tIns="46145" rIns="92292" bIns="46145" rtlCol="0" anchor="ctr" anchorCtr="0">
            <a:spAutoFit/>
          </a:bodyPr>
          <a:lstStyle/>
          <a:p>
            <a:pPr algn="r"/>
            <a:r>
              <a:rPr lang="en-US" sz="1000" b="1" dirty="0"/>
              <a:t>Primary</a:t>
            </a:r>
            <a:br>
              <a:rPr lang="en-US" sz="1000" b="1" dirty="0"/>
            </a:br>
            <a:r>
              <a:rPr lang="en-US" sz="1000" b="1" dirty="0"/>
              <a:t>Colors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2626418" y="4050363"/>
            <a:ext cx="831441" cy="398558"/>
          </a:xfrm>
          <a:prstGeom prst="rect">
            <a:avLst/>
          </a:prstGeom>
          <a:noFill/>
        </p:spPr>
        <p:txBody>
          <a:bodyPr wrap="none" lIns="92292" tIns="46145" rIns="92292" bIns="46145" rtlCol="0" anchor="ctr" anchorCtr="0">
            <a:spAutoFit/>
          </a:bodyPr>
          <a:lstStyle/>
          <a:p>
            <a:pPr algn="r"/>
            <a:r>
              <a:rPr lang="en-US" sz="1000" b="1" dirty="0"/>
              <a:t>Secondary</a:t>
            </a:r>
            <a:br>
              <a:rPr lang="en-US" sz="1000" b="1" dirty="0"/>
            </a:br>
            <a:r>
              <a:rPr lang="en-US" sz="1000" b="1" dirty="0"/>
              <a:t>Colors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735883" y="682097"/>
            <a:ext cx="1442372" cy="248273"/>
          </a:xfrm>
          <a:prstGeom prst="rect">
            <a:avLst/>
          </a:prstGeom>
          <a:noFill/>
        </p:spPr>
        <p:txBody>
          <a:bodyPr wrap="square" lIns="92292" tIns="46145" rIns="92292" bIns="46145" rtlCol="0" anchor="ctr" anchorCtr="0">
            <a:spAutoFit/>
          </a:bodyPr>
          <a:lstStyle/>
          <a:p>
            <a:pPr algn="ctr"/>
            <a:r>
              <a:rPr lang="en-US" sz="1000" b="1" dirty="0"/>
              <a:t>Color Palette</a:t>
            </a:r>
          </a:p>
        </p:txBody>
      </p:sp>
    </p:spTree>
    <p:extLst>
      <p:ext uri="{BB962C8B-B14F-4D97-AF65-F5344CB8AC3E}">
        <p14:creationId xmlns:p14="http://schemas.microsoft.com/office/powerpoint/2010/main" val="242016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816282" rtl="0" eaLnBrk="1" fontAlgn="auto" latinLnBrk="0" hangingPunct="1">
      <a:lnSpc>
        <a:spcPct val="100000"/>
      </a:lnSpc>
      <a:spcBef>
        <a:spcPts val="801"/>
      </a:spcBef>
      <a:spcAft>
        <a:spcPts val="0"/>
      </a:spcAft>
      <a:buClrTx/>
      <a:buSzTx/>
      <a:buFont typeface="Arial" pitchFamily="34" charset="0"/>
      <a:buNone/>
      <a:tabLst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33550" marR="0" indent="-133550" algn="l" defTabSz="816282" rtl="0" eaLnBrk="1" fontAlgn="auto" latinLnBrk="0" hangingPunct="1">
      <a:lnSpc>
        <a:spcPct val="100000"/>
      </a:lnSpc>
      <a:spcBef>
        <a:spcPts val="801"/>
      </a:spcBef>
      <a:spcAft>
        <a:spcPts val="0"/>
      </a:spcAft>
      <a:buClr>
        <a:srgbClr val="556292"/>
      </a:buClr>
      <a:buSzTx/>
      <a:buFont typeface="Wingdings" pitchFamily="2" charset="2"/>
      <a:buChar char="n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76004" marR="0" indent="-142453" algn="l" defTabSz="816282" rtl="0" eaLnBrk="1" fontAlgn="auto" latinLnBrk="0" hangingPunct="1">
      <a:lnSpc>
        <a:spcPct val="100000"/>
      </a:lnSpc>
      <a:spcBef>
        <a:spcPts val="481"/>
      </a:spcBef>
      <a:spcAft>
        <a:spcPts val="0"/>
      </a:spcAft>
      <a:buClr>
        <a:srgbClr val="556292"/>
      </a:buClr>
      <a:buSzTx/>
      <a:buFont typeface="Wingdings" pitchFamily="2" charset="2"/>
      <a:buChar char="n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409553" marR="0" indent="-133550" algn="l" defTabSz="816282" rtl="0" eaLnBrk="1" fontAlgn="auto" latinLnBrk="0" hangingPunct="1">
      <a:lnSpc>
        <a:spcPct val="100000"/>
      </a:lnSpc>
      <a:spcBef>
        <a:spcPts val="481"/>
      </a:spcBef>
      <a:spcAft>
        <a:spcPts val="0"/>
      </a:spcAft>
      <a:buClr>
        <a:srgbClr val="556292"/>
      </a:buClr>
      <a:buSzTx/>
      <a:buFont typeface="Wingdings" pitchFamily="2" charset="2"/>
      <a:buChar char="n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52007" marR="0" indent="-142453" algn="l" defTabSz="816282" rtl="0" eaLnBrk="1" fontAlgn="auto" latinLnBrk="0" hangingPunct="1">
      <a:lnSpc>
        <a:spcPct val="100000"/>
      </a:lnSpc>
      <a:spcBef>
        <a:spcPts val="481"/>
      </a:spcBef>
      <a:spcAft>
        <a:spcPts val="0"/>
      </a:spcAft>
      <a:buClr>
        <a:srgbClr val="556292"/>
      </a:buClr>
      <a:buSzTx/>
      <a:buFont typeface="Wingdings" pitchFamily="2" charset="2"/>
      <a:buChar char="n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831543" algn="l" defTabSz="7326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97852" algn="l" defTabSz="7326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64160" algn="l" defTabSz="7326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930469" algn="l" defTabSz="7326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2F53F9-5B9F-8F47-AB8D-C527C6956187}" type="slidenum">
              <a:rPr lang="de-DE" altLang="en-US" sz="1200"/>
              <a:pPr eaLnBrk="1" hangingPunct="1"/>
              <a:t>1</a:t>
            </a:fld>
            <a:endParaRPr lang="de-DE" altLang="en-US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69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228600" y="189886"/>
            <a:ext cx="8686800" cy="476372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62" tIns="36631" rIns="73262" bIns="36631"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744684" y="1420558"/>
            <a:ext cx="5030756" cy="993754"/>
          </a:xfrm>
          <a:prstGeom prst="rect">
            <a:avLst/>
          </a:prstGeom>
          <a:noFill/>
        </p:spPr>
        <p:txBody>
          <a:bodyPr lIns="0" tIns="0" rIns="146523" bIns="21979" anchor="b" anchorCtr="0">
            <a:normAutofit/>
          </a:bodyPr>
          <a:lstStyle>
            <a:lvl1pPr algn="l">
              <a:defRPr sz="2200" b="0" cap="none" baseline="0">
                <a:solidFill>
                  <a:srgbClr val="717578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4684" y="2475547"/>
            <a:ext cx="7830070" cy="30226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lang="en-US" sz="14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0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6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81628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enter subtitle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744684" y="2777809"/>
            <a:ext cx="7830705" cy="543135"/>
          </a:xfrm>
          <a:prstGeom prst="rect">
            <a:avLst/>
          </a:prstGeom>
        </p:spPr>
        <p:txBody>
          <a:bodyPr lIns="0"/>
          <a:lstStyle>
            <a:lvl1pPr>
              <a:spcBef>
                <a:spcPts val="0"/>
              </a:spcBef>
              <a:defRPr lang="en-US" sz="1100" b="1" kern="1200" baseline="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1628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enter Presenter Name (Bold) and Presenter Title (</a:t>
            </a:r>
            <a:r>
              <a:rPr lang="en-US" dirty="0" err="1"/>
              <a:t>unbolded</a:t>
            </a:r>
            <a:r>
              <a:rPr lang="en-US" dirty="0"/>
              <a:t>)</a:t>
            </a:r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44684" y="4166488"/>
            <a:ext cx="2799773" cy="269991"/>
          </a:xfrm>
        </p:spPr>
        <p:txBody>
          <a:bodyPr lIns="0" anchor="ctr" anchorCtr="0"/>
          <a:lstStyle>
            <a:lvl1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i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155700" y="461871"/>
            <a:ext cx="797859" cy="247426"/>
          </a:xfrm>
          <a:prstGeom prst="rect">
            <a:avLst/>
          </a:prstGeom>
          <a:solidFill>
            <a:srgbClr val="026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2:108:182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155700" y="712590"/>
            <a:ext cx="797859" cy="247426"/>
          </a:xfrm>
          <a:prstGeom prst="rect">
            <a:avLst/>
          </a:prstGeom>
          <a:solidFill>
            <a:srgbClr val="679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103:145:70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1155700" y="963309"/>
            <a:ext cx="797859" cy="247426"/>
          </a:xfrm>
          <a:prstGeom prst="rect">
            <a:avLst/>
          </a:prstGeom>
          <a:solidFill>
            <a:srgbClr val="7A6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122:104:174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1155700" y="1214028"/>
            <a:ext cx="797859" cy="247426"/>
          </a:xfrm>
          <a:prstGeom prst="rect">
            <a:avLst/>
          </a:prstGeom>
          <a:solidFill>
            <a:srgbClr val="F89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248:156:87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-1155700" y="1464747"/>
            <a:ext cx="797859" cy="247426"/>
          </a:xfrm>
          <a:prstGeom prst="rect">
            <a:avLst/>
          </a:prstGeom>
          <a:solidFill>
            <a:srgbClr val="8B0E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139:14:4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-1155700" y="1715466"/>
            <a:ext cx="797859" cy="247426"/>
          </a:xfrm>
          <a:prstGeom prst="rect">
            <a:avLst/>
          </a:prstGeom>
          <a:solidFill>
            <a:srgbClr val="007C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0:124:173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155700" y="1966185"/>
            <a:ext cx="797859" cy="247426"/>
          </a:xfrm>
          <a:prstGeom prst="rect">
            <a:avLst/>
          </a:prstGeom>
          <a:solidFill>
            <a:srgbClr val="64C8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100:200:185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-1155700" y="2216904"/>
            <a:ext cx="797859" cy="24742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0:53:95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-1155700" y="2467623"/>
            <a:ext cx="797859" cy="247426"/>
          </a:xfrm>
          <a:prstGeom prst="rect">
            <a:avLst/>
          </a:prstGeom>
          <a:solidFill>
            <a:srgbClr val="80B5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128:181:218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-1155700" y="2718342"/>
            <a:ext cx="797859" cy="247426"/>
          </a:xfrm>
          <a:prstGeom prst="rect">
            <a:avLst/>
          </a:prstGeom>
          <a:solidFill>
            <a:srgbClr val="B3C8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179:200:162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-1155700" y="2969061"/>
            <a:ext cx="797859" cy="247426"/>
          </a:xfrm>
          <a:prstGeom prst="rect">
            <a:avLst/>
          </a:prstGeom>
          <a:solidFill>
            <a:srgbClr val="BCB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188:179:214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-1155700" y="3219780"/>
            <a:ext cx="797859" cy="247426"/>
          </a:xfrm>
          <a:prstGeom prst="rect">
            <a:avLst/>
          </a:prstGeom>
          <a:solidFill>
            <a:srgbClr val="FBCD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251:205:171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-1155700" y="3470499"/>
            <a:ext cx="797859" cy="247426"/>
          </a:xfrm>
          <a:prstGeom prst="rect">
            <a:avLst/>
          </a:prstGeom>
          <a:solidFill>
            <a:srgbClr val="C58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197:134:129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-1155700" y="3721218"/>
            <a:ext cx="797859" cy="247426"/>
          </a:xfrm>
          <a:prstGeom prst="rect">
            <a:avLst/>
          </a:prstGeom>
          <a:solidFill>
            <a:srgbClr val="C0D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192:222:235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-1155700" y="3971937"/>
            <a:ext cx="797859" cy="247426"/>
          </a:xfrm>
          <a:prstGeom prst="rect">
            <a:avLst/>
          </a:prstGeom>
          <a:solidFill>
            <a:srgbClr val="B1E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177:227:220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-1155700" y="4222656"/>
            <a:ext cx="797859" cy="247426"/>
          </a:xfrm>
          <a:prstGeom prst="rect">
            <a:avLst/>
          </a:prstGeom>
          <a:solidFill>
            <a:srgbClr val="7F9A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127:154:175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-1155700" y="4473382"/>
            <a:ext cx="797859" cy="247426"/>
          </a:xfrm>
          <a:prstGeom prst="rect">
            <a:avLst/>
          </a:prstGeom>
          <a:solidFill>
            <a:srgbClr val="518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81:131:189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-1994503" y="4473382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Hyperlink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-1155700" y="4720808"/>
            <a:ext cx="797859" cy="247426"/>
          </a:xfrm>
          <a:prstGeom prst="rect">
            <a:avLst/>
          </a:prstGeom>
          <a:solidFill>
            <a:srgbClr val="FFD4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255:212:87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-1994503" y="4720808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Highlight</a:t>
            </a:r>
          </a:p>
        </p:txBody>
      </p:sp>
    </p:spTree>
    <p:extLst>
      <p:ext uri="{BB962C8B-B14F-4D97-AF65-F5344CB8AC3E}">
        <p14:creationId xmlns:p14="http://schemas.microsoft.com/office/powerpoint/2010/main" val="6892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446" y="1223107"/>
            <a:ext cx="8312727" cy="30562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262" y="4279392"/>
            <a:ext cx="8312727" cy="240288"/>
          </a:xfrm>
        </p:spPr>
        <p:txBody>
          <a:bodyPr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9" y="629501"/>
            <a:ext cx="7625654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17578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566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435" y="4279392"/>
            <a:ext cx="8312555" cy="240288"/>
          </a:xfrm>
        </p:spPr>
        <p:txBody>
          <a:bodyPr wrap="square"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63435" y="1223106"/>
            <a:ext cx="4069080" cy="30562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2"/>
          </p:nvPr>
        </p:nvSpPr>
        <p:spPr>
          <a:xfrm>
            <a:off x="4706910" y="1223618"/>
            <a:ext cx="4069080" cy="3055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175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8" y="629501"/>
            <a:ext cx="7626643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10689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228600" y="189886"/>
            <a:ext cx="8686800" cy="476372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62" tIns="36631" rIns="73262" bIns="36631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684" y="1636423"/>
            <a:ext cx="7537325" cy="993754"/>
          </a:xfrm>
          <a:prstGeom prst="rect">
            <a:avLst/>
          </a:prstGeom>
          <a:noFill/>
        </p:spPr>
        <p:txBody>
          <a:bodyPr lIns="0" tIns="0" rIns="146523" bIns="21979" anchor="b" anchorCtr="0">
            <a:normAutofit/>
          </a:bodyPr>
          <a:lstStyle>
            <a:lvl1pPr marL="366309" indent="-366309" algn="l">
              <a:tabLst>
                <a:tab pos="1831543" algn="l"/>
              </a:tabLst>
              <a:defRPr sz="2200" b="0" cap="none" baseline="0">
                <a:solidFill>
                  <a:srgbClr val="717578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4685" y="2691413"/>
            <a:ext cx="7537739" cy="30226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lang="en-US" sz="14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0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6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81628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44684" y="4166488"/>
            <a:ext cx="2799773" cy="269991"/>
          </a:xfrm>
        </p:spPr>
        <p:txBody>
          <a:bodyPr lIns="0" anchor="ctr" anchorCtr="0"/>
          <a:lstStyle>
            <a:lvl1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i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816282" rtl="0" eaLnBrk="1" latinLnBrk="0" hangingPunct="1">
              <a:spcBef>
                <a:spcPct val="20000"/>
              </a:spcBef>
              <a:spcAft>
                <a:spcPts val="801"/>
              </a:spcAft>
              <a:buFont typeface="Arial" pitchFamily="34" charset="0"/>
              <a:buNone/>
              <a:defRPr lang="en-US" sz="11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641080" y="4810611"/>
            <a:ext cx="1410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732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96E720-DFF6-4F66-82A9-1D954C345FA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</a:rPr>
              <a:pPr marL="0" marR="0" lvl="0" indent="0" algn="r" defTabSz="732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155700" y="461871"/>
            <a:ext cx="797859" cy="247426"/>
          </a:xfrm>
          <a:prstGeom prst="rect">
            <a:avLst/>
          </a:prstGeom>
          <a:solidFill>
            <a:srgbClr val="026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2:108:182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155700" y="712590"/>
            <a:ext cx="797859" cy="247426"/>
          </a:xfrm>
          <a:prstGeom prst="rect">
            <a:avLst/>
          </a:prstGeom>
          <a:solidFill>
            <a:srgbClr val="679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103:145:70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155700" y="963309"/>
            <a:ext cx="797859" cy="247426"/>
          </a:xfrm>
          <a:prstGeom prst="rect">
            <a:avLst/>
          </a:prstGeom>
          <a:solidFill>
            <a:srgbClr val="7A6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122:104:174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155700" y="1214028"/>
            <a:ext cx="797859" cy="247426"/>
          </a:xfrm>
          <a:prstGeom prst="rect">
            <a:avLst/>
          </a:prstGeom>
          <a:solidFill>
            <a:srgbClr val="F89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248:156:87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155700" y="1464747"/>
            <a:ext cx="797859" cy="247426"/>
          </a:xfrm>
          <a:prstGeom prst="rect">
            <a:avLst/>
          </a:prstGeom>
          <a:solidFill>
            <a:srgbClr val="8B0E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139:14:4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155700" y="1715466"/>
            <a:ext cx="797859" cy="247426"/>
          </a:xfrm>
          <a:prstGeom prst="rect">
            <a:avLst/>
          </a:prstGeom>
          <a:solidFill>
            <a:srgbClr val="007C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0:124:173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1155700" y="1966185"/>
            <a:ext cx="797859" cy="247426"/>
          </a:xfrm>
          <a:prstGeom prst="rect">
            <a:avLst/>
          </a:prstGeom>
          <a:solidFill>
            <a:srgbClr val="64C8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100:200:185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155700" y="2216904"/>
            <a:ext cx="797859" cy="24742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0:53:95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-1155700" y="2467623"/>
            <a:ext cx="797859" cy="247426"/>
          </a:xfrm>
          <a:prstGeom prst="rect">
            <a:avLst/>
          </a:prstGeom>
          <a:solidFill>
            <a:srgbClr val="80B5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128:181:218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-1155700" y="2718342"/>
            <a:ext cx="797859" cy="247426"/>
          </a:xfrm>
          <a:prstGeom prst="rect">
            <a:avLst/>
          </a:prstGeom>
          <a:solidFill>
            <a:srgbClr val="B3C8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179:200:162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-1155700" y="2969061"/>
            <a:ext cx="797859" cy="247426"/>
          </a:xfrm>
          <a:prstGeom prst="rect">
            <a:avLst/>
          </a:prstGeom>
          <a:solidFill>
            <a:srgbClr val="BCB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188:179:214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1155700" y="3219780"/>
            <a:ext cx="797859" cy="247426"/>
          </a:xfrm>
          <a:prstGeom prst="rect">
            <a:avLst/>
          </a:prstGeom>
          <a:solidFill>
            <a:srgbClr val="FBCD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251:205:171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1155700" y="3470499"/>
            <a:ext cx="797859" cy="247426"/>
          </a:xfrm>
          <a:prstGeom prst="rect">
            <a:avLst/>
          </a:prstGeom>
          <a:solidFill>
            <a:srgbClr val="C58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197:134:129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-1155700" y="3721218"/>
            <a:ext cx="797859" cy="247426"/>
          </a:xfrm>
          <a:prstGeom prst="rect">
            <a:avLst/>
          </a:prstGeom>
          <a:solidFill>
            <a:srgbClr val="C0D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192:222:235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-1155700" y="3971937"/>
            <a:ext cx="797859" cy="247426"/>
          </a:xfrm>
          <a:prstGeom prst="rect">
            <a:avLst/>
          </a:prstGeom>
          <a:solidFill>
            <a:srgbClr val="B1E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177:227:220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155700" y="4222656"/>
            <a:ext cx="797859" cy="247426"/>
          </a:xfrm>
          <a:prstGeom prst="rect">
            <a:avLst/>
          </a:prstGeom>
          <a:solidFill>
            <a:srgbClr val="7F9A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127:154:175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-1155700" y="4473382"/>
            <a:ext cx="797859" cy="247426"/>
          </a:xfrm>
          <a:prstGeom prst="rect">
            <a:avLst/>
          </a:prstGeom>
          <a:solidFill>
            <a:srgbClr val="518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81:131:189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-1994503" y="4473382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Hyperlink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-1155700" y="4720808"/>
            <a:ext cx="797859" cy="247426"/>
          </a:xfrm>
          <a:prstGeom prst="rect">
            <a:avLst/>
          </a:prstGeom>
          <a:solidFill>
            <a:srgbClr val="FFD4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255:212:87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-1994503" y="4720808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Highlight</a:t>
            </a:r>
          </a:p>
        </p:txBody>
      </p:sp>
    </p:spTree>
    <p:extLst>
      <p:ext uri="{BB962C8B-B14F-4D97-AF65-F5344CB8AC3E}">
        <p14:creationId xmlns:p14="http://schemas.microsoft.com/office/powerpoint/2010/main" val="3938720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463435" y="1223106"/>
            <a:ext cx="4069080" cy="30562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4706910" y="1223107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4706910" y="1450974"/>
            <a:ext cx="4069080" cy="2828418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435" y="4279392"/>
            <a:ext cx="8312555" cy="240288"/>
          </a:xfrm>
        </p:spPr>
        <p:txBody>
          <a:bodyPr wrap="square"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8" y="629501"/>
            <a:ext cx="7626643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883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463435" y="1223107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Content Placeholder 13"/>
          <p:cNvSpPr>
            <a:spLocks noGrp="1"/>
          </p:cNvSpPr>
          <p:nvPr>
            <p:ph sz="quarter" idx="22"/>
          </p:nvPr>
        </p:nvSpPr>
        <p:spPr>
          <a:xfrm>
            <a:off x="463435" y="1450973"/>
            <a:ext cx="4069080" cy="2825496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4704196" y="1223107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4704196" y="1450973"/>
            <a:ext cx="4069080" cy="2828419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435" y="4279392"/>
            <a:ext cx="8309841" cy="240288"/>
          </a:xfrm>
        </p:spPr>
        <p:txBody>
          <a:bodyPr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8" y="629501"/>
            <a:ext cx="7626643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664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463435" y="1223107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Content Placeholder 13"/>
          <p:cNvSpPr>
            <a:spLocks noGrp="1"/>
          </p:cNvSpPr>
          <p:nvPr>
            <p:ph sz="quarter" idx="17"/>
          </p:nvPr>
        </p:nvSpPr>
        <p:spPr>
          <a:xfrm>
            <a:off x="463435" y="1450973"/>
            <a:ext cx="4069080" cy="1248606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4704196" y="1223107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4704196" y="1450973"/>
            <a:ext cx="4069080" cy="1248606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463435" y="2804802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1"/>
          </p:nvPr>
        </p:nvSpPr>
        <p:spPr>
          <a:xfrm>
            <a:off x="463435" y="3032668"/>
            <a:ext cx="4069080" cy="1248606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4704196" y="2804802"/>
            <a:ext cx="4069080" cy="227866"/>
          </a:xfrm>
          <a:prstGeom prst="rect">
            <a:avLst/>
          </a:prstGeom>
          <a:noFill/>
          <a:ln>
            <a:noFill/>
          </a:ln>
        </p:spPr>
        <p:txBody>
          <a:bodyPr wrap="square" lIns="109893" tIns="36631" rIns="109893" bIns="36631" anchor="t" anchorCtr="0">
            <a:spAutoFit/>
          </a:bodyPr>
          <a:lstStyle>
            <a:lvl1pPr marL="0" indent="0" algn="ctr" rtl="0" eaLnBrk="1" fontAlgn="base" hangingPunct="1">
              <a:spcBef>
                <a:spcPts val="801"/>
              </a:spcBef>
              <a:spcAft>
                <a:spcPts val="0"/>
              </a:spcAft>
              <a:buClr>
                <a:schemeClr val="accent2"/>
              </a:buClr>
              <a:buFont typeface="Wingdings" pitchFamily="2" charset="2"/>
              <a:buNone/>
              <a:defRPr lang="en-US" sz="1000" b="1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4704196" y="3032668"/>
            <a:ext cx="4069080" cy="1248606"/>
          </a:xfrm>
          <a:prstGeom prst="rect">
            <a:avLst/>
          </a:prstGeom>
          <a:ln w="9525">
            <a:noFill/>
          </a:ln>
        </p:spPr>
        <p:txBody>
          <a:bodyPr lIns="109893" tIns="73262" rIns="109893" bIns="73262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463435" y="4281274"/>
            <a:ext cx="8309841" cy="240288"/>
          </a:xfrm>
        </p:spPr>
        <p:txBody>
          <a:bodyPr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1149518" y="629501"/>
            <a:ext cx="7623757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60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434" y="4279392"/>
            <a:ext cx="8309841" cy="240288"/>
          </a:xfrm>
        </p:spPr>
        <p:txBody>
          <a:bodyPr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9" y="629501"/>
            <a:ext cx="7623756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65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able Placeholder 10"/>
          <p:cNvSpPr>
            <a:spLocks noGrp="1"/>
          </p:cNvSpPr>
          <p:nvPr>
            <p:ph type="tbl" sz="quarter" idx="19"/>
          </p:nvPr>
        </p:nvSpPr>
        <p:spPr>
          <a:xfrm>
            <a:off x="465513" y="1223106"/>
            <a:ext cx="8314171" cy="3056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63434" y="4279392"/>
            <a:ext cx="8314171" cy="240288"/>
          </a:xfrm>
        </p:spPr>
        <p:txBody>
          <a:bodyPr wrap="square" tIns="109893" bIns="36631" anchor="b" anchorCtr="0">
            <a:spAutoFit/>
          </a:bodyPr>
          <a:lstStyle>
            <a:lvl1pPr marL="137366" indent="-137366">
              <a:buFont typeface="+mj-lt"/>
              <a:buAutoNum type="arabicPeriod"/>
              <a:defRPr sz="6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[Footnote]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49519" y="629501"/>
            <a:ext cx="7628086" cy="215444"/>
          </a:xfrm>
        </p:spPr>
        <p:txBody>
          <a:bodyPr wrap="square">
            <a:spAutoFit/>
          </a:bodyPr>
          <a:lstStyle>
            <a:lvl1pPr>
              <a:spcBef>
                <a:spcPts val="240"/>
              </a:spcBef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9519" y="288378"/>
            <a:ext cx="7626643" cy="3385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594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8153400" y="400050"/>
            <a:ext cx="990600" cy="474345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5" name="Text Box 10"/>
          <p:cNvSpPr txBox="1">
            <a:spLocks noChangeArrowheads="1"/>
          </p:cNvSpPr>
          <p:nvPr userDrawn="1"/>
        </p:nvSpPr>
        <p:spPr bwMode="auto">
          <a:xfrm>
            <a:off x="971551" y="3003947"/>
            <a:ext cx="71294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2100" b="1">
              <a:solidFill>
                <a:srgbClr val="0024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65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9789-4851-B4A8-C4B2-B8D8D0195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47477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EDD40-28E1-99DF-4695-07773CCED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99E00-7B90-E8B3-93AE-6975C27A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725B-5930-8846-BF68-FF7089CE09A6}" type="datetimeFigureOut">
              <a:rPr lang="en-AR" smtClean="0"/>
              <a:t>8/14/25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53DF6-5B57-5319-6318-EB90D701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1BA1B-7645-3AC6-57E5-7BED0A4A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EF0E-A36B-1646-BA03-847D9220B4A5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19928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118C-60C4-C73D-73F4-A0A81D24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D6B1-CDD4-D50F-5B37-42445561F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4D1FA-E45C-3B56-465D-7920D04D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725B-5930-8846-BF68-FF7089CE09A6}" type="datetimeFigureOut">
              <a:rPr lang="en-AR" smtClean="0"/>
              <a:t>8/14/25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8EDAB-32EC-6159-7149-77448BEA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6B09-55E9-E27A-81B7-BA1F516A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EF0E-A36B-1646-BA03-847D9220B4A5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1061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Placeholder 29"/>
          <p:cNvSpPr>
            <a:spLocks noGrp="1"/>
          </p:cNvSpPr>
          <p:nvPr>
            <p:ph type="title"/>
          </p:nvPr>
        </p:nvSpPr>
        <p:spPr>
          <a:xfrm>
            <a:off x="1149519" y="288378"/>
            <a:ext cx="7626643" cy="3385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1"/>
          </p:nvPr>
        </p:nvSpPr>
        <p:spPr>
          <a:xfrm>
            <a:off x="463435" y="1223107"/>
            <a:ext cx="8312727" cy="30540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3" name="GS Doctop Placeholder" hidden="1"/>
          <p:cNvSpPr txBox="1"/>
          <p:nvPr/>
        </p:nvSpPr>
        <p:spPr>
          <a:xfrm>
            <a:off x="496455" y="0"/>
            <a:ext cx="5137727" cy="166310"/>
          </a:xfrm>
          <a:prstGeom prst="rect">
            <a:avLst/>
          </a:prstGeom>
          <a:noFill/>
        </p:spPr>
        <p:txBody>
          <a:bodyPr vert="horz" lIns="73262" tIns="36631" rIns="73262" bIns="36631" rtlCol="0">
            <a:spAutoFit/>
          </a:bodyPr>
          <a:lstStyle/>
          <a:p>
            <a:pPr algn="l"/>
            <a:r>
              <a:rPr lang="en-US" sz="600" b="0">
                <a:effectLst/>
                <a:latin typeface="Arial"/>
              </a:rPr>
              <a:t>LOGOLIBRARY\_DO NOT DELETE_TW BACKUP\12901 IC Templates\12901 IC Templates - PPT 16x9 Affinity v01.pptx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2643" y="4810611"/>
            <a:ext cx="1410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732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96E720-DFF6-4F66-82A9-1D954C345FA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</a:rPr>
              <a:pPr marL="0" marR="0" lvl="0" indent="0" algn="r" defTabSz="732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0" name="Line 37"/>
          <p:cNvSpPr>
            <a:spLocks noChangeShapeType="1"/>
          </p:cNvSpPr>
          <p:nvPr/>
        </p:nvSpPr>
        <p:spPr bwMode="auto">
          <a:xfrm>
            <a:off x="463435" y="981738"/>
            <a:ext cx="8312727" cy="0"/>
          </a:xfrm>
          <a:prstGeom prst="line">
            <a:avLst/>
          </a:prstGeom>
          <a:noFill/>
          <a:ln w="6350">
            <a:solidFill>
              <a:srgbClr val="B7B7BA"/>
            </a:solidFill>
            <a:round/>
            <a:headEnd/>
            <a:tailEnd/>
          </a:ln>
          <a:effectLst/>
        </p:spPr>
        <p:txBody>
          <a:bodyPr lIns="81609" tIns="40804" rIns="81609" bIns="40804"/>
          <a:lstStyle/>
          <a:p>
            <a:pPr marL="0" marR="0" lvl="0" indent="0" defTabSz="732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58575A"/>
              </a:solidFill>
              <a:effectLst/>
              <a:uLnTx/>
              <a:uFillTx/>
            </a:endParaRPr>
          </a:p>
        </p:txBody>
      </p:sp>
      <p:sp>
        <p:nvSpPr>
          <p:cNvPr id="17" name="Line 37"/>
          <p:cNvSpPr>
            <a:spLocks noChangeShapeType="1"/>
          </p:cNvSpPr>
          <p:nvPr/>
        </p:nvSpPr>
        <p:spPr bwMode="auto">
          <a:xfrm flipV="1">
            <a:off x="463435" y="4639235"/>
            <a:ext cx="8312728" cy="0"/>
          </a:xfrm>
          <a:prstGeom prst="line">
            <a:avLst/>
          </a:prstGeom>
          <a:noFill/>
          <a:ln w="6350">
            <a:solidFill>
              <a:srgbClr val="B7B7BA"/>
            </a:solidFill>
            <a:round/>
            <a:headEnd/>
            <a:tailEnd/>
          </a:ln>
          <a:effectLst/>
        </p:spPr>
        <p:txBody>
          <a:bodyPr lIns="81609" tIns="40804" rIns="81609" bIns="40804"/>
          <a:lstStyle/>
          <a:p>
            <a:pPr marL="0" marR="0" lvl="0" indent="0" defTabSz="732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58575A"/>
              </a:solidFill>
              <a:effectLst/>
              <a:uLnTx/>
              <a:uFillTx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-1155700" y="461871"/>
            <a:ext cx="797859" cy="247426"/>
          </a:xfrm>
          <a:prstGeom prst="rect">
            <a:avLst/>
          </a:prstGeom>
          <a:solidFill>
            <a:srgbClr val="026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2:108:182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155700" y="712590"/>
            <a:ext cx="797859" cy="247426"/>
          </a:xfrm>
          <a:prstGeom prst="rect">
            <a:avLst/>
          </a:prstGeom>
          <a:solidFill>
            <a:srgbClr val="6791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103:145:70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-1155700" y="963309"/>
            <a:ext cx="797859" cy="247426"/>
          </a:xfrm>
          <a:prstGeom prst="rect">
            <a:avLst/>
          </a:prstGeom>
          <a:solidFill>
            <a:srgbClr val="7A6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122:104:174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-1155700" y="1214028"/>
            <a:ext cx="797859" cy="247426"/>
          </a:xfrm>
          <a:prstGeom prst="rect">
            <a:avLst/>
          </a:prstGeom>
          <a:solidFill>
            <a:srgbClr val="F89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248:156:87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1155700" y="1464747"/>
            <a:ext cx="797859" cy="247426"/>
          </a:xfrm>
          <a:prstGeom prst="rect">
            <a:avLst/>
          </a:prstGeom>
          <a:solidFill>
            <a:srgbClr val="8B0E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139:14:4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1155700" y="1715466"/>
            <a:ext cx="797859" cy="247426"/>
          </a:xfrm>
          <a:prstGeom prst="rect">
            <a:avLst/>
          </a:prstGeom>
          <a:solidFill>
            <a:srgbClr val="007C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0:124:173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-1155700" y="1966185"/>
            <a:ext cx="797859" cy="247426"/>
          </a:xfrm>
          <a:prstGeom prst="rect">
            <a:avLst/>
          </a:prstGeom>
          <a:solidFill>
            <a:srgbClr val="64C8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100:200:185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-1155700" y="2216904"/>
            <a:ext cx="797859" cy="24742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0:53:95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155700" y="2467623"/>
            <a:ext cx="797859" cy="247426"/>
          </a:xfrm>
          <a:prstGeom prst="rect">
            <a:avLst/>
          </a:prstGeom>
          <a:solidFill>
            <a:srgbClr val="80B5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128:181:218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-1155700" y="2718342"/>
            <a:ext cx="797859" cy="247426"/>
          </a:xfrm>
          <a:prstGeom prst="rect">
            <a:avLst/>
          </a:prstGeom>
          <a:solidFill>
            <a:srgbClr val="B3C8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179:200:162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-1155700" y="2969061"/>
            <a:ext cx="797859" cy="247426"/>
          </a:xfrm>
          <a:prstGeom prst="rect">
            <a:avLst/>
          </a:prstGeom>
          <a:solidFill>
            <a:srgbClr val="BCB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188:179:214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-1155700" y="3219780"/>
            <a:ext cx="797859" cy="247426"/>
          </a:xfrm>
          <a:prstGeom prst="rect">
            <a:avLst/>
          </a:prstGeom>
          <a:solidFill>
            <a:srgbClr val="FBCD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251:205:171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-1155700" y="3470499"/>
            <a:ext cx="797859" cy="247426"/>
          </a:xfrm>
          <a:prstGeom prst="rect">
            <a:avLst/>
          </a:prstGeom>
          <a:solidFill>
            <a:srgbClr val="C58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197:134:129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-1155700" y="3721218"/>
            <a:ext cx="797859" cy="247426"/>
          </a:xfrm>
          <a:prstGeom prst="rect">
            <a:avLst/>
          </a:prstGeom>
          <a:solidFill>
            <a:srgbClr val="C0D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192:222:235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-1155700" y="3971937"/>
            <a:ext cx="797859" cy="247426"/>
          </a:xfrm>
          <a:prstGeom prst="rect">
            <a:avLst/>
          </a:prstGeom>
          <a:solidFill>
            <a:srgbClr val="B1E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177:227:220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-1155700" y="4222656"/>
            <a:ext cx="797859" cy="247426"/>
          </a:xfrm>
          <a:prstGeom prst="rect">
            <a:avLst/>
          </a:prstGeom>
          <a:solidFill>
            <a:srgbClr val="7F9A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127:154:175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-1155700" y="4473382"/>
            <a:ext cx="797859" cy="247426"/>
          </a:xfrm>
          <a:prstGeom prst="rect">
            <a:avLst/>
          </a:prstGeom>
          <a:solidFill>
            <a:srgbClr val="518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81:131:189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-1994503" y="4473382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Hyperlink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-1155700" y="4720808"/>
            <a:ext cx="797859" cy="247426"/>
          </a:xfrm>
          <a:prstGeom prst="rect">
            <a:avLst/>
          </a:prstGeom>
          <a:solidFill>
            <a:srgbClr val="FFD4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255:212:87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-1994503" y="4720808"/>
            <a:ext cx="797859" cy="247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r>
              <a:rPr lang="en-US" sz="1000" b="1" dirty="0">
                <a:solidFill>
                  <a:schemeClr val="tx1"/>
                </a:solidFill>
              </a:rPr>
              <a:t>Highlight</a:t>
            </a:r>
          </a:p>
        </p:txBody>
      </p:sp>
    </p:spTree>
    <p:extLst>
      <p:ext uri="{BB962C8B-B14F-4D97-AF65-F5344CB8AC3E}">
        <p14:creationId xmlns:p14="http://schemas.microsoft.com/office/powerpoint/2010/main" val="1589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23" r:id="rId2"/>
    <p:sldLayoutId id="2147483724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45" r:id="rId10"/>
    <p:sldLayoutId id="2147483746" r:id="rId11"/>
    <p:sldLayoutId id="2147483747" r:id="rId12"/>
  </p:sldLayoutIdLst>
  <p:txStyles>
    <p:titleStyle>
      <a:lvl1pPr algn="l" defTabSz="816282" rtl="0" eaLnBrk="1" fontAlgn="base" latinLnBrk="0" hangingPunct="1">
        <a:spcBef>
          <a:spcPct val="0"/>
        </a:spcBef>
        <a:spcAft>
          <a:spcPct val="0"/>
        </a:spcAft>
        <a:buNone/>
        <a:defRPr lang="en-US" sz="2200" b="0" kern="1200" noProof="0" dirty="0">
          <a:solidFill>
            <a:srgbClr val="717578"/>
          </a:solidFill>
          <a:latin typeface="+mj-lt"/>
          <a:ea typeface="+mj-ea"/>
          <a:cs typeface="+mj-cs"/>
        </a:defRPr>
      </a:lvl1pPr>
    </p:titleStyle>
    <p:bodyStyle>
      <a:lvl1pPr marL="0" indent="0" algn="l" defTabSz="816282" rtl="0" eaLnBrk="1" latinLnBrk="0" hangingPunct="1">
        <a:spcBef>
          <a:spcPts val="801"/>
        </a:spcBef>
        <a:spcAft>
          <a:spcPts val="0"/>
        </a:spcAft>
        <a:buFont typeface="Arial" pitchFamily="34" charset="0"/>
        <a:buNone/>
        <a:defRPr lang="en-US" sz="10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33550" indent="-133550" algn="l" defTabSz="816282" rtl="0" eaLnBrk="1" latinLnBrk="0" hangingPunct="1">
        <a:spcBef>
          <a:spcPts val="801"/>
        </a:spcBef>
        <a:spcAft>
          <a:spcPts val="0"/>
        </a:spcAft>
        <a:buClr>
          <a:schemeClr val="tx1"/>
        </a:buClr>
        <a:buFont typeface="Wingdings" pitchFamily="2" charset="2"/>
        <a:buChar char="n"/>
        <a:defRPr lang="en-US" sz="10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276004" indent="-142453" algn="l" defTabSz="816282" rtl="0" eaLnBrk="1" latinLnBrk="0" hangingPunct="1">
        <a:spcBef>
          <a:spcPts val="481"/>
        </a:spcBef>
        <a:spcAft>
          <a:spcPts val="0"/>
        </a:spcAft>
        <a:buClr>
          <a:schemeClr val="tx1"/>
        </a:buClr>
        <a:buFont typeface="Arial" pitchFamily="34" charset="0"/>
        <a:buChar char="–"/>
        <a:defRPr sz="1000" kern="1200">
          <a:solidFill>
            <a:schemeClr val="tx1"/>
          </a:solidFill>
          <a:latin typeface="+mj-lt"/>
          <a:ea typeface="+mn-ea"/>
          <a:cs typeface="+mn-cs"/>
        </a:defRPr>
      </a:lvl3pPr>
      <a:lvl4pPr marL="409553" indent="-133550" algn="l" defTabSz="816282" rtl="0" eaLnBrk="1" latinLnBrk="0" hangingPunct="1">
        <a:spcBef>
          <a:spcPts val="481"/>
        </a:spcBef>
        <a:spcAft>
          <a:spcPts val="0"/>
        </a:spcAft>
        <a:buClr>
          <a:schemeClr val="tx1"/>
        </a:buClr>
        <a:buFont typeface="Wingdings" pitchFamily="2" charset="2"/>
        <a:buChar char=""/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552007" indent="-142453" algn="l" defTabSz="816282" rtl="0" eaLnBrk="1" latinLnBrk="0" hangingPunct="1">
        <a:spcBef>
          <a:spcPts val="481"/>
        </a:spcBef>
        <a:buClr>
          <a:schemeClr val="bg1"/>
        </a:buClr>
        <a:buFont typeface="Wingdings" pitchFamily="2" charset="2"/>
        <a:buChar char="n"/>
        <a:defRPr sz="800" kern="1200">
          <a:solidFill>
            <a:schemeClr val="tx1"/>
          </a:solidFill>
          <a:latin typeface="+mj-lt"/>
          <a:ea typeface="+mn-ea"/>
          <a:cs typeface="+mn-cs"/>
        </a:defRPr>
      </a:lvl5pPr>
      <a:lvl6pPr marL="2244776" indent="-204070" algn="l" defTabSz="8162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917" indent="-204070" algn="l" defTabSz="8162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058" indent="-204070" algn="l" defTabSz="8162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199" indent="-204070" algn="l" defTabSz="8162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41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282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423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64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705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846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988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129" algn="l" defTabSz="8162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D14-1162.pdf" TargetMode="External"/><Relationship Id="rId2" Type="http://schemas.openxmlformats.org/officeDocument/2006/relationships/hyperlink" Target="https://aclanthology.org/people/j/jeffrey-penningt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/>
          <p:cNvSpPr txBox="1">
            <a:spLocks noChangeArrowheads="1"/>
          </p:cNvSpPr>
          <p:nvPr/>
        </p:nvSpPr>
        <p:spPr bwMode="auto">
          <a:xfrm>
            <a:off x="149192" y="393013"/>
            <a:ext cx="7820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ES" sz="2400" b="1" dirty="0"/>
              <a:t>Procesamiento de Lenguaje Natural</a:t>
            </a:r>
          </a:p>
          <a:p>
            <a:pPr algn="ctr" eaLnBrk="1" hangingPunct="1"/>
            <a:endParaRPr lang="es-ES" sz="2400" b="1" dirty="0"/>
          </a:p>
          <a:p>
            <a:pPr algn="ctr" eaLnBrk="1" hangingPunct="1"/>
            <a:r>
              <a:rPr lang="es-ES" sz="2400" b="1"/>
              <a:t>2do </a:t>
            </a:r>
            <a:r>
              <a:rPr lang="es-ES" sz="2400" b="1" dirty="0"/>
              <a:t>Semestre 2025</a:t>
            </a:r>
            <a:endParaRPr lang="en-US" sz="2400" b="1" dirty="0"/>
          </a:p>
        </p:txBody>
      </p:sp>
      <p:sp>
        <p:nvSpPr>
          <p:cNvPr id="4099" name="Text Box 6"/>
          <p:cNvSpPr txBox="1">
            <a:spLocks noChangeArrowheads="1"/>
          </p:cNvSpPr>
          <p:nvPr/>
        </p:nvSpPr>
        <p:spPr bwMode="auto">
          <a:xfrm>
            <a:off x="3069767" y="2147147"/>
            <a:ext cx="1850185" cy="34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en-US" sz="1500" b="1" dirty="0"/>
              <a:t>Luciano Del Corro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07D9D47-9EB2-934A-9561-F04948C63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653" y="2824414"/>
            <a:ext cx="476412" cy="276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en-US" sz="1100" i="1" dirty="0"/>
              <a:t>UBA</a:t>
            </a:r>
          </a:p>
        </p:txBody>
      </p:sp>
    </p:spTree>
    <p:extLst>
      <p:ext uri="{BB962C8B-B14F-4D97-AF65-F5344CB8AC3E}">
        <p14:creationId xmlns:p14="http://schemas.microsoft.com/office/powerpoint/2010/main" val="161271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5818-5136-1C33-2F53-8D4EB101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DDFEC-37BF-D5A5-8C53-1D2F6B068C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199E2-F3B8-394A-14B4-EB389C22F1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C294AA-E0A0-17BE-6E30-55213CC4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Objetivos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DE8A1-4FB7-0DF5-1533-1F2CD7C15797}"/>
              </a:ext>
            </a:extLst>
          </p:cNvPr>
          <p:cNvSpPr txBox="1"/>
          <p:nvPr/>
        </p:nvSpPr>
        <p:spPr>
          <a:xfrm>
            <a:off x="494264" y="1034683"/>
            <a:ext cx="81867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801"/>
              </a:spcBef>
              <a:buFont typeface="Arial" panose="020B0604020202020204" pitchFamily="34" charset="0"/>
              <a:buChar char="•"/>
            </a:pPr>
            <a:r>
              <a:rPr lang="es-ES_tradnl" sz="2000" noProof="0" dirty="0"/>
              <a:t>Obtener una comprensión solida de los principios y la arquitectura interna de los modelos de lenguaje a gran escala (</a:t>
            </a:r>
            <a:r>
              <a:rPr lang="es-ES_tradnl" sz="2000" noProof="0" dirty="0" err="1"/>
              <a:t>LLMs</a:t>
            </a:r>
            <a:r>
              <a:rPr lang="es-ES_tradnl" sz="2000" noProof="0" dirty="0"/>
              <a:t>).</a:t>
            </a:r>
          </a:p>
          <a:p>
            <a:pPr marL="171450" indent="-171450">
              <a:spcBef>
                <a:spcPts val="801"/>
              </a:spcBef>
              <a:buFont typeface="Arial" panose="020B0604020202020204" pitchFamily="34" charset="0"/>
              <a:buChar char="•"/>
            </a:pPr>
            <a:r>
              <a:rPr lang="es-ES_tradnl" sz="2000" noProof="0" dirty="0"/>
              <a:t>Conocer todos los pasos y buenas prácticas para diseñar, entrenar y optimizar un asistente.</a:t>
            </a:r>
          </a:p>
          <a:p>
            <a:pPr marL="171450" indent="-171450">
              <a:spcBef>
                <a:spcPts val="801"/>
              </a:spcBef>
              <a:buFont typeface="Arial" panose="020B0604020202020204" pitchFamily="34" charset="0"/>
              <a:buChar char="•"/>
            </a:pPr>
            <a:r>
              <a:rPr lang="es-ES_tradnl" sz="2000" noProof="0" dirty="0"/>
              <a:t>Desarrollar habilidades de ingeniería para construir soluciones avanzadas, aplicando metodologías y herramientas especializadas.</a:t>
            </a:r>
          </a:p>
          <a:p>
            <a:pPr marL="171450" indent="-171450">
              <a:spcBef>
                <a:spcPts val="801"/>
              </a:spcBef>
              <a:buFont typeface="Arial" panose="020B0604020202020204" pitchFamily="34" charset="0"/>
              <a:buChar char="•"/>
            </a:pPr>
            <a:r>
              <a:rPr lang="es-ES_tradnl" sz="2000" noProof="0" dirty="0"/>
              <a:t>Obtener las competencias técnicas para superar con éxito procesos de selección académicos o industriales centrados en NLP.</a:t>
            </a:r>
          </a:p>
          <a:p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04035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04A3-40BF-6676-0862-67DC93AF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70C903-8C55-C2FC-82BB-D726EE91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1951A-25D7-FEE6-9D94-44F38F479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03" y="1503364"/>
            <a:ext cx="7772400" cy="21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4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A192C7-3155-1E45-6869-46323F4E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Cronograma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1A4388-8087-B696-F293-36398B301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1029"/>
              </p:ext>
            </p:extLst>
          </p:nvPr>
        </p:nvGraphicFramePr>
        <p:xfrm>
          <a:off x="241300" y="1073426"/>
          <a:ext cx="871855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7169">
                  <a:extLst>
                    <a:ext uri="{9D8B030D-6E8A-4147-A177-3AD203B41FA5}">
                      <a16:colId xmlns:a16="http://schemas.microsoft.com/office/drawing/2014/main" val="455166128"/>
                    </a:ext>
                  </a:extLst>
                </a:gridCol>
                <a:gridCol w="585925">
                  <a:extLst>
                    <a:ext uri="{9D8B030D-6E8A-4147-A177-3AD203B41FA5}">
                      <a16:colId xmlns:a16="http://schemas.microsoft.com/office/drawing/2014/main" val="636399908"/>
                    </a:ext>
                  </a:extLst>
                </a:gridCol>
                <a:gridCol w="3245906">
                  <a:extLst>
                    <a:ext uri="{9D8B030D-6E8A-4147-A177-3AD203B41FA5}">
                      <a16:colId xmlns:a16="http://schemas.microsoft.com/office/drawing/2014/main" val="1256101748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187492396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Fecha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Teoría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Práctica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8162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Intro</a:t>
                      </a:r>
                      <a:r>
                        <a:rPr lang="es-ES_tradnl" sz="700" noProof="0" dirty="0">
                          <a:effectLst/>
                        </a:rPr>
                        <a:t> a Deep </a:t>
                      </a:r>
                      <a:r>
                        <a:rPr lang="es-ES_tradnl" sz="700" noProof="0" dirty="0" err="1">
                          <a:effectLst/>
                        </a:rPr>
                        <a:t>Learning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Intro</a:t>
                      </a:r>
                      <a:r>
                        <a:rPr lang="es-ES_tradnl" sz="700" noProof="0" dirty="0">
                          <a:effectLst/>
                        </a:rPr>
                        <a:t> a </a:t>
                      </a:r>
                      <a:r>
                        <a:rPr lang="es-ES_tradnl" sz="700" noProof="0" dirty="0" err="1">
                          <a:effectLst/>
                        </a:rPr>
                        <a:t>Pytorch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6676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2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Embeddings</a:t>
                      </a:r>
                      <a:r>
                        <a:rPr lang="es-ES_tradnl" sz="700" noProof="0" dirty="0">
                          <a:effectLst/>
                        </a:rPr>
                        <a:t>: Codificando el Lenguaje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Data </a:t>
                      </a:r>
                      <a:r>
                        <a:rPr lang="es-ES_tradnl" sz="700" noProof="0" dirty="0" err="1">
                          <a:effectLst/>
                        </a:rPr>
                        <a:t>Preparation</a:t>
                      </a:r>
                      <a:r>
                        <a:rPr lang="es-ES_tradnl" sz="700" noProof="0" dirty="0">
                          <a:effectLst/>
                        </a:rPr>
                        <a:t> - Codear W2V </a:t>
                      </a:r>
                      <a:r>
                        <a:rPr lang="es-ES_tradnl" sz="700" noProof="0" dirty="0" err="1">
                          <a:effectLst/>
                        </a:rPr>
                        <a:t>SkipGram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6667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3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Introducción a Modelos de Lenguaje: N-gramas y Primeros Modelos Neuronales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Codear Red Neuronal con y sin </a:t>
                      </a:r>
                      <a:r>
                        <a:rPr lang="es-ES_tradnl" sz="700" noProof="0" dirty="0" err="1">
                          <a:effectLst/>
                        </a:rPr>
                        <a:t>embeddings</a:t>
                      </a:r>
                      <a:r>
                        <a:rPr lang="es-ES_tradnl" sz="700" noProof="0" dirty="0">
                          <a:effectLst/>
                        </a:rPr>
                        <a:t> pre entrenados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3214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4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ELMo</a:t>
                      </a:r>
                      <a:r>
                        <a:rPr lang="es-ES_tradnl" sz="700" noProof="0" dirty="0">
                          <a:effectLst/>
                        </a:rPr>
                        <a:t>: </a:t>
                      </a:r>
                      <a:r>
                        <a:rPr lang="es-ES_tradnl" sz="700" noProof="0" dirty="0" err="1">
                          <a:effectLst/>
                        </a:rPr>
                        <a:t>LSTMs</a:t>
                      </a:r>
                      <a:r>
                        <a:rPr lang="es-ES_tradnl" sz="700" noProof="0" dirty="0">
                          <a:effectLst/>
                        </a:rPr>
                        <a:t> y Redes Neuronales Recurrentes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Embeddings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estaticos</a:t>
                      </a:r>
                      <a:r>
                        <a:rPr lang="es-ES_tradnl" sz="700" noProof="0" dirty="0">
                          <a:effectLst/>
                        </a:rPr>
                        <a:t> vs contextuales/</a:t>
                      </a:r>
                      <a:r>
                        <a:rPr lang="es-ES_tradnl" sz="700" noProof="0" dirty="0" err="1">
                          <a:effectLst/>
                        </a:rPr>
                        <a:t>Attention</a:t>
                      </a:r>
                      <a:r>
                        <a:rPr lang="es-ES_tradnl" sz="700" noProof="0" dirty="0">
                          <a:effectLst/>
                        </a:rPr>
                        <a:t> en problema de </a:t>
                      </a:r>
                      <a:r>
                        <a:rPr lang="es-ES_tradnl" sz="700" noProof="0" dirty="0" err="1">
                          <a:effectLst/>
                        </a:rPr>
                        <a:t>clasificacion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2875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5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BERT: Atención, Transformers, </a:t>
                      </a:r>
                      <a:r>
                        <a:rPr lang="es-ES_tradnl" sz="700" noProof="0" dirty="0" err="1">
                          <a:effectLst/>
                        </a:rPr>
                        <a:t>Encoders</a:t>
                      </a:r>
                      <a:r>
                        <a:rPr lang="es-ES_tradnl" sz="700" noProof="0" dirty="0">
                          <a:effectLst/>
                        </a:rPr>
                        <a:t> y </a:t>
                      </a:r>
                      <a:r>
                        <a:rPr lang="es-ES_tradnl" sz="700" noProof="0" dirty="0" err="1">
                          <a:effectLst/>
                        </a:rPr>
                        <a:t>Decoders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PreEntrenar</a:t>
                      </a:r>
                      <a:r>
                        <a:rPr lang="es-ES_tradnl" sz="700" noProof="0" dirty="0">
                          <a:effectLst/>
                        </a:rPr>
                        <a:t>/</a:t>
                      </a:r>
                      <a:r>
                        <a:rPr lang="es-ES_tradnl" sz="700" noProof="0" dirty="0" err="1">
                          <a:effectLst/>
                        </a:rPr>
                        <a:t>FineTunear</a:t>
                      </a:r>
                      <a:r>
                        <a:rPr lang="es-ES_tradnl" sz="700" noProof="0" dirty="0">
                          <a:effectLst/>
                        </a:rPr>
                        <a:t> BERT con simple and </a:t>
                      </a:r>
                      <a:r>
                        <a:rPr lang="es-ES_tradnl" sz="700" noProof="0" dirty="0" err="1">
                          <a:effectLst/>
                        </a:rPr>
                        <a:t>multiple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heads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5311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6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GPT: Preentrenamiento y Modelos Generativos (videos-</a:t>
                      </a:r>
                      <a:r>
                        <a:rPr lang="es-ES_tradnl" sz="700" noProof="0" dirty="0" err="1">
                          <a:effectLst/>
                        </a:rPr>
                        <a:t>presentacion</a:t>
                      </a:r>
                      <a:r>
                        <a:rPr lang="es-ES_tradnl" sz="700" noProof="0" dirty="0">
                          <a:effectLst/>
                        </a:rPr>
                        <a:t>)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Uso de </a:t>
                      </a:r>
                      <a:r>
                        <a:rPr lang="es-ES_tradnl" sz="700" noProof="0" dirty="0" err="1">
                          <a:effectLst/>
                        </a:rPr>
                        <a:t>Instruction</a:t>
                      </a:r>
                      <a:r>
                        <a:rPr lang="es-ES_tradnl" sz="700" noProof="0" dirty="0">
                          <a:effectLst/>
                        </a:rPr>
                        <a:t>/Base </a:t>
                      </a:r>
                      <a:r>
                        <a:rPr lang="es-ES_tradnl" sz="700" noProof="0" dirty="0" err="1">
                          <a:effectLst/>
                        </a:rPr>
                        <a:t>models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47999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7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ChatGPT</a:t>
                      </a:r>
                      <a:r>
                        <a:rPr lang="es-ES_tradnl" sz="700" noProof="0" dirty="0">
                          <a:effectLst/>
                        </a:rPr>
                        <a:t>: RLHF, DPO e </a:t>
                      </a:r>
                      <a:r>
                        <a:rPr lang="es-ES_tradnl" sz="700" noProof="0" dirty="0" err="1">
                          <a:effectLst/>
                        </a:rPr>
                        <a:t>Instruction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Tuning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Postraining</a:t>
                      </a:r>
                      <a:r>
                        <a:rPr lang="es-ES_tradnl" sz="700" noProof="0" dirty="0">
                          <a:effectLst/>
                        </a:rPr>
                        <a:t>, </a:t>
                      </a:r>
                      <a:r>
                        <a:rPr lang="es-ES_tradnl" sz="700" noProof="0" dirty="0" err="1">
                          <a:effectLst/>
                        </a:rPr>
                        <a:t>libreria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tlr</a:t>
                      </a:r>
                      <a:r>
                        <a:rPr lang="es-ES_tradnl" sz="700" noProof="0" dirty="0">
                          <a:effectLst/>
                        </a:rPr>
                        <a:t> / Data </a:t>
                      </a:r>
                      <a:r>
                        <a:rPr lang="es-ES_tradnl" sz="700" noProof="0" dirty="0" err="1">
                          <a:effectLst/>
                        </a:rPr>
                        <a:t>Sintetica</a:t>
                      </a:r>
                      <a:r>
                        <a:rPr lang="es-ES_tradnl" sz="700" noProof="0" dirty="0">
                          <a:effectLst/>
                        </a:rPr>
                        <a:t> + DPO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33215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8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Repaso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Repaso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369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9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Presentacion</a:t>
                      </a:r>
                      <a:r>
                        <a:rPr lang="es-ES_tradnl" sz="700" noProof="0" dirty="0">
                          <a:effectLst/>
                        </a:rPr>
                        <a:t> (Nota)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HuggingFace</a:t>
                      </a:r>
                      <a:r>
                        <a:rPr lang="es-ES_tradnl" sz="700" noProof="0" dirty="0">
                          <a:effectLst/>
                        </a:rPr>
                        <a:t>/Azure/</a:t>
                      </a:r>
                      <a:r>
                        <a:rPr lang="es-ES_tradnl" sz="700" noProof="0" dirty="0" err="1">
                          <a:effectLst/>
                        </a:rPr>
                        <a:t>etc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78807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10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Prompt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Engineering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OpenAI</a:t>
                      </a:r>
                      <a:r>
                        <a:rPr lang="es-ES_tradnl" sz="700" noProof="0" dirty="0">
                          <a:effectLst/>
                        </a:rPr>
                        <a:t> API/</a:t>
                      </a:r>
                      <a:r>
                        <a:rPr lang="es-ES_tradnl" sz="700" noProof="0" dirty="0" err="1">
                          <a:effectLst/>
                        </a:rPr>
                        <a:t>Tecnicas</a:t>
                      </a:r>
                      <a:r>
                        <a:rPr lang="es-ES_tradnl" sz="700" noProof="0" dirty="0">
                          <a:effectLst/>
                        </a:rPr>
                        <a:t> de PE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8806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11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Information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Retrieval</a:t>
                      </a:r>
                      <a:r>
                        <a:rPr lang="es-ES_tradnl" sz="700" noProof="0" dirty="0">
                          <a:effectLst/>
                        </a:rPr>
                        <a:t> y RAG - Agentes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AutoGen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543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12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Distillation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Destilar Bert / Data </a:t>
                      </a:r>
                      <a:r>
                        <a:rPr lang="es-ES_tradnl" sz="700" noProof="0" dirty="0" err="1">
                          <a:effectLst/>
                        </a:rPr>
                        <a:t>Sintetica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AgentInstruct-DeepSeek</a:t>
                      </a:r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24074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13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Sistemas de recomendación - Consulta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Asistencia Proyecto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8475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14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Patrones de </a:t>
                      </a:r>
                      <a:r>
                        <a:rPr lang="es-ES_tradnl" sz="700" noProof="0" dirty="0" err="1">
                          <a:effectLst/>
                        </a:rPr>
                        <a:t>Diseno</a:t>
                      </a:r>
                      <a:r>
                        <a:rPr lang="es-ES_tradnl" sz="700" noProof="0" dirty="0">
                          <a:effectLst/>
                        </a:rPr>
                        <a:t> para NLP- Consulta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Asistencia Proyecto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6207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Clase 15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_tradnl" sz="700" noProof="0" dirty="0">
                        <a:effectLst/>
                      </a:endParaRP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 err="1">
                          <a:effectLst/>
                        </a:rPr>
                        <a:t>Model</a:t>
                      </a:r>
                      <a:r>
                        <a:rPr lang="es-ES_tradnl" sz="700" noProof="0" dirty="0">
                          <a:effectLst/>
                        </a:rPr>
                        <a:t> </a:t>
                      </a:r>
                      <a:r>
                        <a:rPr lang="es-ES_tradnl" sz="700" noProof="0" dirty="0" err="1">
                          <a:effectLst/>
                        </a:rPr>
                        <a:t>Serving</a:t>
                      </a:r>
                      <a:r>
                        <a:rPr lang="es-ES_tradnl" sz="700" noProof="0" dirty="0">
                          <a:effectLst/>
                        </a:rPr>
                        <a:t> - Consulta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_tradnl" sz="700" noProof="0" dirty="0">
                          <a:effectLst/>
                        </a:rPr>
                        <a:t>Asistencia Proyecto</a:t>
                      </a:r>
                    </a:p>
                  </a:txBody>
                  <a:tcPr marL="8886" marR="8886" marT="5924" marB="59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61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477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9211FA-597A-716A-86D3-9C5F3971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994493"/>
            <a:ext cx="8312727" cy="340205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Clases Teóricas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Martes, de 17 a 21.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Clases Prácticas</a:t>
            </a:r>
            <a:endParaRPr lang="es-ES_tradnl" sz="900" noProof="0" dirty="0"/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No hay. No se asignó ayudante.  Recomiendo que hagan los </a:t>
            </a:r>
            <a:r>
              <a:rPr lang="es-ES_tradnl" sz="900" noProof="0" dirty="0" err="1"/>
              <a:t>colabs</a:t>
            </a:r>
            <a:r>
              <a:rPr lang="es-ES_tradnl" sz="900" noProof="0" dirty="0"/>
              <a:t> ustedes.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Material de Clase</a:t>
            </a:r>
            <a:endParaRPr lang="es-ES_tradnl" sz="900" noProof="0" dirty="0"/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Se entregarán las diapositivas (</a:t>
            </a:r>
            <a:r>
              <a:rPr lang="es-ES_tradnl" sz="900" noProof="0" dirty="0" err="1"/>
              <a:t>slides</a:t>
            </a:r>
            <a:r>
              <a:rPr lang="es-ES_tradnl" sz="900" noProof="0" dirty="0"/>
              <a:t>) luego de cada sesión. 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Antes del examen se reparte una guía de unas 100 preguntas.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dirty="0"/>
              <a:t>Cada clase tiene lecturas optativas </a:t>
            </a:r>
            <a:endParaRPr lang="es-ES_tradnl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Evaluación</a:t>
            </a:r>
            <a:endParaRPr lang="es-ES_tradnl" sz="900" noProof="0" dirty="0"/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Examen</a:t>
            </a:r>
            <a:r>
              <a:rPr lang="es-ES_tradnl" sz="900" noProof="0" dirty="0"/>
              <a:t>: </a:t>
            </a:r>
            <a:r>
              <a:rPr lang="es-ES_tradnl" sz="900" dirty="0"/>
              <a:t>5</a:t>
            </a:r>
            <a:r>
              <a:rPr lang="es-ES_tradnl" sz="900" noProof="0" dirty="0"/>
              <a:t>0%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Trabajo Práctico (TP)</a:t>
            </a:r>
            <a:r>
              <a:rPr lang="es-ES_tradnl" sz="900" noProof="0" dirty="0"/>
              <a:t>: 50%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b="1" noProof="0" dirty="0"/>
              <a:t>Proyecto (TP) a Elección</a:t>
            </a:r>
            <a:endParaRPr lang="es-ES_tradnl" sz="900" noProof="0" dirty="0"/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El tema del TP será elegido por el/la estudiante con la aprobación del equipo docente.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900" noProof="0" dirty="0"/>
              <a:t>Se evaluará con una ‘poster sesión’. Los alumnos deberán presentar un repositorio de </a:t>
            </a:r>
            <a:r>
              <a:rPr lang="es-ES_tradnl" sz="900" noProof="0" dirty="0" err="1"/>
              <a:t>Github</a:t>
            </a:r>
            <a:r>
              <a:rPr lang="es-ES_tradnl" sz="900" noProof="0" dirty="0"/>
              <a:t> con el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A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94ED2-6453-CB4F-47F1-3EB026B7F9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BD28E7-ED95-7C21-05AA-631FEA2F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Organización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19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A38B68-4894-D865-2BA7-29E0828DE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68463"/>
            <a:ext cx="8312727" cy="3550599"/>
          </a:xfrm>
        </p:spPr>
        <p:txBody>
          <a:bodyPr/>
          <a:lstStyle/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dirty="0"/>
              <a:t>Aprobar el </a:t>
            </a:r>
            <a:r>
              <a:rPr lang="es-ES_tradnl" b="1" dirty="0"/>
              <a:t>Examen</a:t>
            </a:r>
            <a:r>
              <a:rPr lang="es-ES_tradnl" dirty="0"/>
              <a:t> (recuperatorio al final del semestre) y el </a:t>
            </a:r>
            <a:r>
              <a:rPr lang="es-ES_tradnl" b="1" dirty="0"/>
              <a:t>TP</a:t>
            </a:r>
            <a:endParaRPr lang="es-ES_tradnl" b="1" noProof="0" dirty="0"/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noProof="0" dirty="0"/>
              <a:t>Obtener un </a:t>
            </a:r>
            <a:r>
              <a:rPr lang="es-ES_tradnl" b="1" noProof="0" dirty="0"/>
              <a:t>promedio ponderado</a:t>
            </a:r>
            <a:r>
              <a:rPr lang="es-ES_tradnl" noProof="0" dirty="0"/>
              <a:t> (en todas las instancias de evaluación) </a:t>
            </a:r>
            <a:r>
              <a:rPr lang="es-ES_tradnl" b="1" noProof="0" dirty="0"/>
              <a:t>mayor o igual a 4</a:t>
            </a:r>
            <a:r>
              <a:rPr lang="es-ES_tradnl" noProof="0" dirty="0"/>
              <a:t>.</a:t>
            </a:r>
          </a:p>
          <a:p>
            <a:endParaRPr lang="es-ES_tradnl" noProof="0" dirty="0"/>
          </a:p>
          <a:p>
            <a:r>
              <a:rPr lang="es-ES_tradnl" noProof="0" dirty="0"/>
              <a:t>El TP es un proyecto de elección libre y se evalúa caso por caso. Algunos aspectos generales: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Metodología: </a:t>
            </a:r>
            <a:r>
              <a:rPr lang="es-ES_tradnl" noProof="0" dirty="0"/>
              <a:t>Rigurosidad, definición del problema, justificación del enfoque, formulación de hipótesis.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Estado del Arte: </a:t>
            </a:r>
            <a:r>
              <a:rPr lang="es-ES_tradnl" noProof="0" dirty="0"/>
              <a:t>Comprensión de las metodologías y modelos existentes.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Diseño de la Solución: </a:t>
            </a:r>
            <a:r>
              <a:rPr lang="es-ES_tradnl" noProof="0" dirty="0"/>
              <a:t>Pertinencia de las técnicas y herramientas seleccionadas.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Gestión y Procesamiento de Datos: </a:t>
            </a:r>
            <a:r>
              <a:rPr lang="es-ES_tradnl" noProof="0" dirty="0"/>
              <a:t>Selección, manejo y obtención de datos. 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Diseño Experimental: </a:t>
            </a:r>
            <a:r>
              <a:rPr lang="es-ES_tradnl" noProof="0" dirty="0"/>
              <a:t>Calidad de los experimentos, justificación y coherencia en la elección de las técnicas de evaluación.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Implementación </a:t>
            </a:r>
            <a:r>
              <a:rPr lang="es-ES_tradnl" noProof="0" dirty="0"/>
              <a:t>Aplicación de buenas prácticas de diseño y facilidad de reproducción.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Análisis y Discusión de Resultados: </a:t>
            </a:r>
            <a:r>
              <a:rPr lang="es-ES_tradnl" noProof="0" dirty="0"/>
              <a:t>Interpretación de los resultados obtenidos, discusión de posibles limitaciones.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b="1" noProof="0" dirty="0"/>
              <a:t>Presentación y Comunicación</a:t>
            </a:r>
            <a:endParaRPr lang="es-ES_tradnl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38862-935D-A58B-D780-1633115CF7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6A5CF3-318D-3E7D-7974-32ECD198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Requisitos de Aprobación</a:t>
            </a:r>
          </a:p>
        </p:txBody>
      </p:sp>
    </p:spTree>
    <p:extLst>
      <p:ext uri="{BB962C8B-B14F-4D97-AF65-F5344CB8AC3E}">
        <p14:creationId xmlns:p14="http://schemas.microsoft.com/office/powerpoint/2010/main" val="40439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El ideal de la representación simbólica </a:t>
            </a:r>
          </a:p>
        </p:txBody>
      </p:sp>
      <p:sp>
        <p:nvSpPr>
          <p:cNvPr id="2" name="AutoShape 12" descr="Linkedin Logo | The most famous brands and company logos in the worl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BCA5E-A365-A422-F4CC-D219EC57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27" y="1508223"/>
            <a:ext cx="5179274" cy="338824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2A90B8-38B9-3502-6DDE-EADCF40CE35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AR" dirty="0"/>
              <a:t>Maquinas que razonan como humanos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98884-C53D-551D-A634-C332AFA1DB90}"/>
              </a:ext>
            </a:extLst>
          </p:cNvPr>
          <p:cNvSpPr txBox="1"/>
          <p:nvPr/>
        </p:nvSpPr>
        <p:spPr>
          <a:xfrm>
            <a:off x="460375" y="1087571"/>
            <a:ext cx="8016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dirty="0">
                <a:solidFill>
                  <a:srgbClr val="374151"/>
                </a:solidFill>
                <a:effectLst/>
                <a:latin typeface="Söhne"/>
              </a:rPr>
              <a:t>Representación y manipulación de símbolos para modelar y razonar sobre </a:t>
            </a:r>
            <a:r>
              <a:rPr lang="es-ES" i="1" dirty="0">
                <a:solidFill>
                  <a:srgbClr val="374151"/>
                </a:solidFill>
                <a:latin typeface="Söhne"/>
              </a:rPr>
              <a:t>información textual</a:t>
            </a:r>
            <a:endParaRPr lang="en-US" i="1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D35B06F-4B03-B6F7-A3A4-029868B3D41C}"/>
              </a:ext>
            </a:extLst>
          </p:cNvPr>
          <p:cNvSpPr/>
          <p:nvPr/>
        </p:nvSpPr>
        <p:spPr>
          <a:xfrm>
            <a:off x="5734195" y="3018916"/>
            <a:ext cx="907420" cy="537472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endParaRPr lang="en-US" sz="11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What is a Database?">
            <a:extLst>
              <a:ext uri="{FF2B5EF4-FFF2-40B4-BE49-F238E27FC236}">
                <a16:creationId xmlns:a16="http://schemas.microsoft.com/office/drawing/2014/main" id="{8FD2C171-8077-3EC5-504A-A3CFFC071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688" y="2698383"/>
            <a:ext cx="1306799" cy="138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nowledge Representation and Reasoning">
            <a:extLst>
              <a:ext uri="{FF2B5EF4-FFF2-40B4-BE49-F238E27FC236}">
                <a16:creationId xmlns:a16="http://schemas.microsoft.com/office/drawing/2014/main" id="{7C770085-05CB-2E87-B5A5-21EE815C8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252" y="1735764"/>
            <a:ext cx="1051555" cy="83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00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C7B0-3485-4C42-52EB-2FA0B021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14C02-B6EC-CAA5-6C3D-81E6F781C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La Transformación en la Representación del Lenguaje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451DD4-67BD-62D9-2305-698EDDD6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519" y="249988"/>
            <a:ext cx="7626643" cy="338554"/>
          </a:xfrm>
        </p:spPr>
        <p:txBody>
          <a:bodyPr/>
          <a:lstStyle/>
          <a:p>
            <a:pPr algn="l"/>
            <a:r>
              <a:rPr lang="es-ES" dirty="0"/>
              <a:t>De la representación Simbólica a </a:t>
            </a:r>
            <a:r>
              <a:rPr lang="es-ES" dirty="0" err="1"/>
              <a:t>Embeddings</a:t>
            </a:r>
            <a:endParaRPr lang="en-GB" dirty="0"/>
          </a:p>
        </p:txBody>
      </p:sp>
      <p:sp>
        <p:nvSpPr>
          <p:cNvPr id="2" name="AutoShape 12" descr="Linkedin Logo | The most famous brands and company logos in the world">
            <a:extLst>
              <a:ext uri="{FF2B5EF4-FFF2-40B4-BE49-F238E27FC236}">
                <a16:creationId xmlns:a16="http://schemas.microsoft.com/office/drawing/2014/main" id="{80B273C2-5C8E-6FB1-ACB6-F6A3E3FC56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B6DA3-0A94-FFEB-D43A-25815DE6C15B}"/>
              </a:ext>
            </a:extLst>
          </p:cNvPr>
          <p:cNvSpPr txBox="1"/>
          <p:nvPr/>
        </p:nvSpPr>
        <p:spPr>
          <a:xfrm>
            <a:off x="796943" y="1356925"/>
            <a:ext cx="478194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/>
              <a:t>“Albert Einstein was born in Germany. He died in Princeton.”</a:t>
            </a:r>
            <a:endParaRPr lang="en-AR" sz="1300" dirty="0"/>
          </a:p>
        </p:txBody>
      </p:sp>
      <p:pic>
        <p:nvPicPr>
          <p:cNvPr id="2050" name="Picture 2" descr="How to create a [math]\rm\LaTeX[/math] macro that generates an [math]m  \times n[/math] matrix - Quora">
            <a:extLst>
              <a:ext uri="{FF2B5EF4-FFF2-40B4-BE49-F238E27FC236}">
                <a16:creationId xmlns:a16="http://schemas.microsoft.com/office/drawing/2014/main" id="{7C715A0C-62A5-5BDB-9EE9-4261FEC07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584" y="1006711"/>
            <a:ext cx="1548285" cy="102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3BA7E29-9ACD-D690-B57D-274E1545C214}"/>
              </a:ext>
            </a:extLst>
          </p:cNvPr>
          <p:cNvSpPr/>
          <p:nvPr/>
        </p:nvSpPr>
        <p:spPr>
          <a:xfrm>
            <a:off x="5374638" y="1412279"/>
            <a:ext cx="994672" cy="21544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45720" rtlCol="0" anchor="b" anchorCtr="0"/>
          <a:lstStyle/>
          <a:p>
            <a:pPr algn="r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324C7571-DE07-B1D6-1FFA-D44A73651007}"/>
              </a:ext>
            </a:extLst>
          </p:cNvPr>
          <p:cNvSpPr txBox="1">
            <a:spLocks/>
          </p:cNvSpPr>
          <p:nvPr/>
        </p:nvSpPr>
        <p:spPr>
          <a:xfrm>
            <a:off x="155575" y="1715236"/>
            <a:ext cx="6701228" cy="14537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16282" rtl="0" eaLnBrk="1" latinLnBrk="0" hangingPunct="1">
              <a:spcBef>
                <a:spcPts val="801"/>
              </a:spcBef>
              <a:spcAft>
                <a:spcPts val="0"/>
              </a:spcAft>
              <a:buFont typeface="Arial" pitchFamily="34" charset="0"/>
              <a:buNone/>
              <a:defRPr lang="en-US" sz="1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3550" indent="-133550" algn="l" defTabSz="816282" rtl="0" eaLnBrk="1" latinLnBrk="0" hangingPunct="1">
              <a:spcBef>
                <a:spcPts val="801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n"/>
              <a:defRPr lang="en-US" sz="1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276004" indent="-142453" algn="l" defTabSz="816282" rtl="0" eaLnBrk="1" latinLnBrk="0" hangingPunct="1">
              <a:spcBef>
                <a:spcPts val="481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409553" indent="-133550" algn="l" defTabSz="816282" rtl="0" eaLnBrk="1" latinLnBrk="0" hangingPunct="1">
              <a:spcBef>
                <a:spcPts val="481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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52007" indent="-142453" algn="l" defTabSz="816282" rtl="0" eaLnBrk="1" latinLnBrk="0" hangingPunct="1">
              <a:spcBef>
                <a:spcPts val="481"/>
              </a:spcBef>
              <a:buClr>
                <a:schemeClr val="bg1"/>
              </a:buClr>
              <a:buFont typeface="Wingdings" pitchFamily="2" charset="2"/>
              <a:buChar char="n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44776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2917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058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199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Los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embeddings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b="1" dirty="0">
                <a:solidFill>
                  <a:srgbClr val="374151"/>
                </a:solidFill>
                <a:latin typeface="Söhne"/>
              </a:rPr>
              <a:t>codifican conocimiento 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en espacios de alta dimensión,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Capturar relaciones y significado </a:t>
            </a:r>
            <a:r>
              <a:rPr lang="es-ES" sz="1300" b="1" dirty="0">
                <a:solidFill>
                  <a:srgbClr val="374151"/>
                </a:solidFill>
                <a:latin typeface="Söhne"/>
              </a:rPr>
              <a:t>sin necesidad de esquemas rígidos y con menos complejidad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Facilita el manejo de </a:t>
            </a:r>
            <a:r>
              <a:rPr lang="es-ES" sz="1300" b="1" dirty="0">
                <a:solidFill>
                  <a:srgbClr val="374151"/>
                </a:solidFill>
                <a:latin typeface="Söhne"/>
              </a:rPr>
              <a:t>grandes volúmenes de datos 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y la variabilidad del lenguaje humano.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b="1" dirty="0">
                <a:solidFill>
                  <a:srgbClr val="374151"/>
                </a:solidFill>
                <a:latin typeface="Söhne"/>
              </a:rPr>
              <a:t>Aprendizaje continuo, y transferencia de conocimiento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Más </a:t>
            </a:r>
            <a:r>
              <a:rPr lang="es-ES" sz="1300" b="1" dirty="0">
                <a:solidFill>
                  <a:srgbClr val="374151"/>
                </a:solidFill>
                <a:latin typeface="Söhne"/>
              </a:rPr>
              <a:t>tolerantes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a inconsistencias y conflictos en el texto de entrada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2073B-F4BE-EBE8-852F-3CC9D35A00FF}"/>
              </a:ext>
            </a:extLst>
          </p:cNvPr>
          <p:cNvSpPr txBox="1"/>
          <p:nvPr/>
        </p:nvSpPr>
        <p:spPr>
          <a:xfrm>
            <a:off x="2334075" y="4724235"/>
            <a:ext cx="4475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2: Embeddings: </a:t>
            </a:r>
            <a:r>
              <a:rPr lang="en-US" sz="16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codificando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el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lenguaje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3" name="Picture 14">
            <a:extLst>
              <a:ext uri="{FF2B5EF4-FFF2-40B4-BE49-F238E27FC236}">
                <a16:creationId xmlns:a16="http://schemas.microsoft.com/office/drawing/2014/main" id="{6C2584FB-1B7A-CDC1-BA53-7A08D686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285" y="3204211"/>
            <a:ext cx="3305005" cy="14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CBoW Word2Vec Explained | Papers With Code">
            <a:extLst>
              <a:ext uri="{FF2B5EF4-FFF2-40B4-BE49-F238E27FC236}">
                <a16:creationId xmlns:a16="http://schemas.microsoft.com/office/drawing/2014/main" id="{1F9E0C7D-821C-9620-1442-94BBA004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398" y="3238895"/>
            <a:ext cx="1073792" cy="134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38A096-6445-A9C8-EC55-C43F04DD76AC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822713" y="3909185"/>
            <a:ext cx="1017572" cy="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22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555F8-9854-244A-1043-E6F2D8EB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43" y="156594"/>
            <a:ext cx="7626643" cy="338554"/>
          </a:xfrm>
        </p:spPr>
        <p:txBody>
          <a:bodyPr/>
          <a:lstStyle/>
          <a:p>
            <a:r>
              <a:rPr lang="es-AR" dirty="0"/>
              <a:t>Modelos de Lenguaje, </a:t>
            </a:r>
            <a:r>
              <a:rPr lang="es-AR" dirty="0" err="1"/>
              <a:t>Embeddings</a:t>
            </a:r>
            <a:r>
              <a:rPr lang="es-AR" dirty="0"/>
              <a:t>  </a:t>
            </a:r>
            <a:r>
              <a:rPr lang="es-ES" dirty="0">
                <a:solidFill>
                  <a:srgbClr val="374151"/>
                </a:solidFill>
                <a:latin typeface="Söhne"/>
              </a:rPr>
              <a:t>y</a:t>
            </a:r>
            <a:r>
              <a:rPr lang="es-ES" dirty="0"/>
              <a:t> Redes Neuronales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E72B57-FBB6-D542-BF3B-9215200C71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8985" y="4545115"/>
            <a:ext cx="4463005" cy="558324"/>
          </a:xfrm>
        </p:spPr>
        <p:txBody>
          <a:bodyPr/>
          <a:lstStyle/>
          <a:p>
            <a:pPr marL="0" indent="0">
              <a:buNone/>
            </a:pPr>
            <a:r>
              <a:rPr lang="en-GB" sz="1000" i="0" dirty="0" err="1">
                <a:solidFill>
                  <a:srgbClr val="374151"/>
                </a:solidFill>
                <a:latin typeface="Söhne"/>
              </a:rPr>
              <a:t>Mikolov</a:t>
            </a:r>
            <a:r>
              <a:rPr lang="en-GB" sz="1000" i="0" dirty="0">
                <a:solidFill>
                  <a:srgbClr val="374151"/>
                </a:solidFill>
                <a:latin typeface="Söhne"/>
              </a:rPr>
              <a:t> et. al., 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Efficient Estimation of Word Representations in Vector Space , 2013</a:t>
            </a:r>
          </a:p>
          <a:p>
            <a:pPr marL="0" indent="0" algn="l">
              <a:buNone/>
            </a:pPr>
            <a:r>
              <a:rPr lang="en-US" sz="1000" i="0" dirty="0">
                <a:solidFill>
                  <a:srgbClr val="374151"/>
                </a:solidFill>
                <a:latin typeface="Söh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Pennington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 et. </a:t>
            </a:r>
            <a:r>
              <a:rPr lang="en-US" sz="1000" i="0" dirty="0">
                <a:solidFill>
                  <a:srgbClr val="374151"/>
                </a:solidFill>
                <a:latin typeface="Sö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l., </a:t>
            </a:r>
            <a:r>
              <a:rPr lang="en-US" sz="1000" i="0" dirty="0" err="1">
                <a:solidFill>
                  <a:srgbClr val="374151"/>
                </a:solidFill>
                <a:latin typeface="Sö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GloVe</a:t>
            </a:r>
            <a:r>
              <a:rPr lang="en-US" sz="1000" i="0" dirty="0">
                <a:solidFill>
                  <a:srgbClr val="374151"/>
                </a:solidFill>
                <a:latin typeface="Sö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Global Vectors for Word Representation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, 2014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24D4B-FE7D-E945-0515-F6E3DEA2A48A}"/>
              </a:ext>
            </a:extLst>
          </p:cNvPr>
          <p:cNvSpPr txBox="1"/>
          <p:nvPr/>
        </p:nvSpPr>
        <p:spPr>
          <a:xfrm>
            <a:off x="406667" y="4764885"/>
            <a:ext cx="8207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dirty="0"/>
              <a:t>Unidad 3: </a:t>
            </a:r>
            <a:r>
              <a:rPr lang="en-US" dirty="0" err="1"/>
              <a:t>Introducción</a:t>
            </a:r>
            <a:r>
              <a:rPr lang="en-US" dirty="0"/>
              <a:t> a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: </a:t>
            </a:r>
            <a:r>
              <a:rPr lang="en-US" dirty="0" err="1"/>
              <a:t>Ngrams</a:t>
            </a:r>
            <a:r>
              <a:rPr lang="en-US" dirty="0"/>
              <a:t> y </a:t>
            </a:r>
            <a:r>
              <a:rPr lang="en-US" dirty="0" err="1"/>
              <a:t>primeros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neuronales</a:t>
            </a:r>
            <a:endParaRPr lang="en-US" dirty="0"/>
          </a:p>
        </p:txBody>
      </p:sp>
      <p:pic>
        <p:nvPicPr>
          <p:cNvPr id="1026" name="Picture 2" descr="Language Modeling">
            <a:extLst>
              <a:ext uri="{FF2B5EF4-FFF2-40B4-BE49-F238E27FC236}">
                <a16:creationId xmlns:a16="http://schemas.microsoft.com/office/drawing/2014/main" id="{1D04FA32-9CE6-8F97-4D97-23631CD65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083" y="1253396"/>
            <a:ext cx="2565300" cy="102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(x_1^n) = \prod_{k=1}^{N}  p(w | w_1^{n-1})">
            <a:extLst>
              <a:ext uri="{FF2B5EF4-FFF2-40B4-BE49-F238E27FC236}">
                <a16:creationId xmlns:a16="http://schemas.microsoft.com/office/drawing/2014/main" id="{73B13F93-FD61-D295-DD4D-281C45941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67" y="1514474"/>
            <a:ext cx="1444505" cy="47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ECC60C-E6D6-B16A-F1EE-CB455A86045B}"/>
              </a:ext>
            </a:extLst>
          </p:cNvPr>
          <p:cNvCxnSpPr/>
          <p:nvPr/>
        </p:nvCxnSpPr>
        <p:spPr>
          <a:xfrm>
            <a:off x="1995777" y="1732487"/>
            <a:ext cx="139445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6437A4-1090-6F42-5FA1-DCAD674250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73AE9A-2E09-39D6-4591-091BA5628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638" y="2460756"/>
            <a:ext cx="4048469" cy="2084359"/>
          </a:xfrm>
          <a:prstGeom prst="rect">
            <a:avLst/>
          </a:prstGeom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FCEDCF27-C4B7-9287-1021-0BD1D05FD18B}"/>
              </a:ext>
            </a:extLst>
          </p:cNvPr>
          <p:cNvSpPr txBox="1">
            <a:spLocks/>
          </p:cNvSpPr>
          <p:nvPr/>
        </p:nvSpPr>
        <p:spPr>
          <a:xfrm>
            <a:off x="260762" y="2867993"/>
            <a:ext cx="4311238" cy="13272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16282" rtl="0" eaLnBrk="1" latinLnBrk="0" hangingPunct="1">
              <a:spcBef>
                <a:spcPts val="801"/>
              </a:spcBef>
              <a:spcAft>
                <a:spcPts val="0"/>
              </a:spcAft>
              <a:buFont typeface="Arial" pitchFamily="34" charset="0"/>
              <a:buNone/>
              <a:defRPr lang="en-US" sz="1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3550" indent="-133550" algn="l" defTabSz="816282" rtl="0" eaLnBrk="1" latinLnBrk="0" hangingPunct="1">
              <a:spcBef>
                <a:spcPts val="801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n"/>
              <a:defRPr lang="en-US" sz="1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276004" indent="-142453" algn="l" defTabSz="816282" rtl="0" eaLnBrk="1" latinLnBrk="0" hangingPunct="1">
              <a:spcBef>
                <a:spcPts val="481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409553" indent="-133550" algn="l" defTabSz="816282" rtl="0" eaLnBrk="1" latinLnBrk="0" hangingPunct="1">
              <a:spcBef>
                <a:spcPts val="481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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52007" indent="-142453" algn="l" defTabSz="816282" rtl="0" eaLnBrk="1" latinLnBrk="0" hangingPunct="1">
              <a:spcBef>
                <a:spcPts val="481"/>
              </a:spcBef>
              <a:buClr>
                <a:schemeClr val="bg1"/>
              </a:buClr>
              <a:buFont typeface="Wingdings" pitchFamily="2" charset="2"/>
              <a:buChar char="n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44776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2917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058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199" indent="-204070" algn="l" defTabSz="81628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Introducción a modelos de lenguaje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Modelos de lenguaje unidireccionales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Introducción al transfer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learning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Primeros modelos neuronales y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embeddings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pre entrenados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512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829025-2F04-08E0-BB54-6352A088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312727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500" b="1" i="0" dirty="0">
                <a:solidFill>
                  <a:srgbClr val="374151"/>
                </a:solidFill>
                <a:effectLst/>
                <a:latin typeface="Söhne"/>
              </a:rPr>
              <a:t>Generalización con </a:t>
            </a:r>
            <a:r>
              <a:rPr lang="es-ES" sz="1500" b="1" i="0" dirty="0" err="1">
                <a:solidFill>
                  <a:srgbClr val="374151"/>
                </a:solidFill>
                <a:effectLst/>
                <a:latin typeface="Söhne"/>
              </a:rPr>
              <a:t>Embeddings</a:t>
            </a:r>
            <a:r>
              <a:rPr lang="es-ES" sz="15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sz="1500" b="1" i="0" dirty="0" err="1">
                <a:solidFill>
                  <a:srgbClr val="374151"/>
                </a:solidFill>
                <a:effectLst/>
                <a:latin typeface="Söhne"/>
              </a:rPr>
              <a:t>Preentrenados</a:t>
            </a:r>
            <a:r>
              <a:rPr lang="es-ES" sz="1500" b="0" i="0" dirty="0">
                <a:solidFill>
                  <a:srgbClr val="374151"/>
                </a:solidFill>
                <a:effectLst/>
                <a:latin typeface="Söhne"/>
              </a:rPr>
              <a:t>: Al emplear </a:t>
            </a:r>
            <a:r>
              <a:rPr lang="es-ES" sz="1500" b="0" i="0" dirty="0" err="1">
                <a:solidFill>
                  <a:srgbClr val="374151"/>
                </a:solidFill>
                <a:effectLst/>
                <a:latin typeface="Söhne"/>
              </a:rPr>
              <a:t>embeddings</a:t>
            </a:r>
            <a:r>
              <a:rPr lang="es-ES" sz="15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sz="1500" b="0" i="0" dirty="0" err="1">
                <a:solidFill>
                  <a:srgbClr val="374151"/>
                </a:solidFill>
                <a:effectLst/>
                <a:latin typeface="Söhne"/>
              </a:rPr>
              <a:t>preentrenados</a:t>
            </a:r>
            <a:r>
              <a:rPr lang="es-ES" sz="1500" b="0" i="0" dirty="0">
                <a:solidFill>
                  <a:srgbClr val="374151"/>
                </a:solidFill>
                <a:effectLst/>
                <a:latin typeface="Söhne"/>
              </a:rPr>
              <a:t> en la inicialización de token </a:t>
            </a:r>
            <a:r>
              <a:rPr lang="es-ES" sz="1500" b="0" i="0" dirty="0" err="1">
                <a:solidFill>
                  <a:srgbClr val="374151"/>
                </a:solidFill>
                <a:effectLst/>
                <a:latin typeface="Söhne"/>
              </a:rPr>
              <a:t>embeddings</a:t>
            </a:r>
            <a:r>
              <a:rPr lang="es-ES" sz="1500" b="0" i="0" dirty="0">
                <a:solidFill>
                  <a:srgbClr val="374151"/>
                </a:solidFill>
                <a:effectLst/>
                <a:latin typeface="Söhne"/>
              </a:rPr>
              <a:t> se logra una convergencia más rápida y mejor generalización.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500" b="1" i="0" dirty="0">
                <a:solidFill>
                  <a:srgbClr val="374151"/>
                </a:solidFill>
                <a:effectLst/>
                <a:latin typeface="Söhne"/>
              </a:rPr>
              <a:t>Dominio de las Arquitecturas Bi-LSTM:</a:t>
            </a:r>
            <a:r>
              <a:rPr lang="es-ES" sz="1500" b="0" i="0" dirty="0">
                <a:solidFill>
                  <a:srgbClr val="374151"/>
                </a:solidFill>
                <a:effectLst/>
                <a:latin typeface="Söhne"/>
              </a:rPr>
              <a:t> La arquitectura Bi-LSTM se convirtió en la más popular, debido a su eficacia y capacidad para capturar información contextual en ambas direcciones del texto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Perdida de importancia de </a:t>
            </a:r>
            <a:r>
              <a:rPr lang="en-US" sz="1500" b="1" dirty="0" err="1">
                <a:solidFill>
                  <a:srgbClr val="374151"/>
                </a:solidFill>
                <a:latin typeface="Söhne"/>
              </a:rPr>
              <a:t>ingeniería</a:t>
            </a:r>
            <a:r>
              <a:rPr lang="en-US" sz="1500" b="1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n-US" sz="1500" b="1" dirty="0" err="1">
                <a:solidFill>
                  <a:srgbClr val="374151"/>
                </a:solidFill>
                <a:latin typeface="Söhne"/>
              </a:rPr>
              <a:t>atributos</a:t>
            </a:r>
            <a:r>
              <a:rPr lang="en-US" sz="1500" b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500" dirty="0">
                <a:solidFill>
                  <a:srgbClr val="374151"/>
                </a:solidFill>
                <a:latin typeface="Söhne"/>
              </a:rPr>
              <a:t>(feature engineering).</a:t>
            </a:r>
            <a:endParaRPr lang="es-ES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s-ES" sz="15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7AD42-D776-F6C4-2787-A28691B273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EC435-0FE2-6D3C-4989-D0308AE631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7838" y="721480"/>
            <a:ext cx="7625654" cy="2154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004D2F-C610-5440-C58B-3630D10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27" y="288378"/>
            <a:ext cx="8407335" cy="677108"/>
          </a:xfrm>
        </p:spPr>
        <p:txBody>
          <a:bodyPr/>
          <a:lstStyle/>
          <a:p>
            <a:r>
              <a:rPr lang="es-ES" dirty="0"/>
              <a:t>La Revolución del Deep </a:t>
            </a:r>
            <a:r>
              <a:rPr lang="es-ES" dirty="0" err="1"/>
              <a:t>Learning</a:t>
            </a:r>
            <a:r>
              <a:rPr lang="es-ES" dirty="0"/>
              <a:t> en NLP: El Auge de las Bi-LSTM</a:t>
            </a:r>
            <a:endParaRPr lang="en-US" dirty="0"/>
          </a:p>
        </p:txBody>
      </p:sp>
      <p:pic>
        <p:nvPicPr>
          <p:cNvPr id="4104" name="Picture 8" descr="Bidirectional RNN">
            <a:extLst>
              <a:ext uri="{FF2B5EF4-FFF2-40B4-BE49-F238E27FC236}">
                <a16:creationId xmlns:a16="http://schemas.microsoft.com/office/drawing/2014/main" id="{15115291-55B0-7DC9-0C95-B7C085C3D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59" y="2483434"/>
            <a:ext cx="3077745" cy="241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omprehensive guide to LSTM &amp; RNNs.">
            <a:extLst>
              <a:ext uri="{FF2B5EF4-FFF2-40B4-BE49-F238E27FC236}">
                <a16:creationId xmlns:a16="http://schemas.microsoft.com/office/drawing/2014/main" id="{C7E25FB4-D78D-B7A6-2F93-F08A0CA0A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079" y="2575990"/>
            <a:ext cx="4099964" cy="223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FDE259FD-B386-F02C-13B3-E6EC611BE963}"/>
              </a:ext>
            </a:extLst>
          </p:cNvPr>
          <p:cNvSpPr/>
          <p:nvPr/>
        </p:nvSpPr>
        <p:spPr>
          <a:xfrm>
            <a:off x="496953" y="3007895"/>
            <a:ext cx="147943" cy="1895316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6061080-2903-046E-7AD0-B3E4520CB4EE}"/>
              </a:ext>
            </a:extLst>
          </p:cNvPr>
          <p:cNvSpPr/>
          <p:nvPr/>
        </p:nvSpPr>
        <p:spPr>
          <a:xfrm>
            <a:off x="496137" y="2525028"/>
            <a:ext cx="147943" cy="482867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4D091-54BC-3EE7-8812-75B2C76F9FAC}"/>
              </a:ext>
            </a:extLst>
          </p:cNvPr>
          <p:cNvSpPr txBox="1"/>
          <p:nvPr/>
        </p:nvSpPr>
        <p:spPr>
          <a:xfrm>
            <a:off x="-68556" y="2655407"/>
            <a:ext cx="654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800" dirty="0"/>
              <a:t>Especifica</a:t>
            </a:r>
            <a:endParaRPr 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59999-DBF5-09B5-51E8-71BFA4AC082D}"/>
              </a:ext>
            </a:extLst>
          </p:cNvPr>
          <p:cNvSpPr txBox="1"/>
          <p:nvPr/>
        </p:nvSpPr>
        <p:spPr>
          <a:xfrm>
            <a:off x="-80989" y="3845248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800" dirty="0" err="1"/>
              <a:t>Agnostica</a:t>
            </a: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D837C-D38C-8E5B-2FE4-D94837EE2266}"/>
              </a:ext>
            </a:extLst>
          </p:cNvPr>
          <p:cNvSpPr txBox="1"/>
          <p:nvPr/>
        </p:nvSpPr>
        <p:spPr>
          <a:xfrm>
            <a:off x="2865922" y="4810655"/>
            <a:ext cx="5568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Unidad 4: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ELMo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: LSTMs y Redes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Neuronales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Recurrentes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4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BD493-B28F-CE0C-CB7E-942A7CD7D6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96275" y="4918142"/>
            <a:ext cx="2290275" cy="1984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Deep contextualized word representations, Peters et. Al, 2018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D2E9C-F59D-7B42-5C5B-563D16510A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A2B709-C8AA-876A-AF0D-0AE60B39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Preentrenamiento</a:t>
            </a:r>
            <a:r>
              <a:rPr lang="en-US" dirty="0"/>
              <a:t>, ELMO y embeddings </a:t>
            </a:r>
            <a:r>
              <a:rPr lang="en-US" dirty="0" err="1"/>
              <a:t>contextuales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A3F7724-FEAC-28E5-9A54-5746A354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312727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500" b="1" i="0" dirty="0">
                <a:solidFill>
                  <a:srgbClr val="374151"/>
                </a:solidFill>
                <a:effectLst/>
                <a:latin typeface="Söhne"/>
              </a:rPr>
              <a:t>El preentrenamiento 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implica entrenar toda la red en un gran corpus (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e.g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., la web) en una tarea general (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e.g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., predecir palabras en una oración).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Transferencia de conocimiento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El preentrenamiento facilita la transferencia de conocimiento desde tareas generales de modelado del lenguaje a tareas específicas.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Reduce el tiempo y recursos computacionales 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necesarios para entrenar modelos en tareas especificas.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Resultado: se generan 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embeddings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 contextuales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, no específicos a una palabra aislada sino en contexto.</a:t>
            </a:r>
          </a:p>
          <a:p>
            <a:pPr lvl="1" indent="0">
              <a:buNone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		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pretraining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 + fine-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tuning</a:t>
            </a:r>
            <a:endParaRPr lang="es-ES" sz="1500" dirty="0">
              <a:solidFill>
                <a:srgbClr val="374151"/>
              </a:solidFill>
              <a:latin typeface="Söhne"/>
            </a:endParaRPr>
          </a:p>
        </p:txBody>
      </p:sp>
      <p:pic>
        <p:nvPicPr>
          <p:cNvPr id="5122" name="Picture 2" descr="Learn how to build powerful contextual word embeddings with ELMo | by Karan  Purohit | Saarthi.ai | Medium">
            <a:extLst>
              <a:ext uri="{FF2B5EF4-FFF2-40B4-BE49-F238E27FC236}">
                <a16:creationId xmlns:a16="http://schemas.microsoft.com/office/drawing/2014/main" id="{2309C3B8-8C59-EFC1-A09D-6A63B5148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62" y="3342675"/>
            <a:ext cx="3836276" cy="179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534522-C5EC-F5AF-620A-1F2DC64A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275" y="3495075"/>
            <a:ext cx="4609239" cy="1402112"/>
          </a:xfrm>
          <a:prstGeom prst="rect">
            <a:avLst/>
          </a:prstGeom>
        </p:spPr>
      </p:pic>
      <p:pic>
        <p:nvPicPr>
          <p:cNvPr id="5124" name="Picture 4" descr="Can You Believe Elmo Is 30?! - E! Online">
            <a:extLst>
              <a:ext uri="{FF2B5EF4-FFF2-40B4-BE49-F238E27FC236}">
                <a16:creationId xmlns:a16="http://schemas.microsoft.com/office/drawing/2014/main" id="{3E920474-574F-5D06-C214-A4895ED6D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481" y="139653"/>
            <a:ext cx="1085496" cy="80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500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BB419-EE47-14E1-7E7C-72699EC7F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306" y="1016566"/>
            <a:ext cx="8312727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Arquitectura que introduce el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mecanismo de atención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; permite el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procesamiento en paralelo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Self-Attention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Cada palabra “ve” a todas las otras palabras en el contexto y decide ponderaciones.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BERT adopta la arquitectura de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Transformers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y aprende representaciones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bidireccionales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B20F9-AE1D-1A80-92B0-1DA33B9A58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284DAF-5F53-A613-A7CE-9AD221C95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519" y="288378"/>
            <a:ext cx="7626643" cy="338554"/>
          </a:xfrm>
        </p:spPr>
        <p:txBody>
          <a:bodyPr/>
          <a:lstStyle/>
          <a:p>
            <a:r>
              <a:rPr lang="es-ES" dirty="0"/>
              <a:t>Transformers, BERT y la era de la Atención en NLP</a:t>
            </a:r>
            <a:endParaRPr lang="en-US" dirty="0"/>
          </a:p>
        </p:txBody>
      </p:sp>
      <p:pic>
        <p:nvPicPr>
          <p:cNvPr id="6146" name="Picture 2" descr="BERT Transformers for Natural Language Processing">
            <a:extLst>
              <a:ext uri="{FF2B5EF4-FFF2-40B4-BE49-F238E27FC236}">
                <a16:creationId xmlns:a16="http://schemas.microsoft.com/office/drawing/2014/main" id="{7FDFCE30-653A-FDB5-F9A8-E3ABE3C96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18"/>
          <a:stretch/>
        </p:blipFill>
        <p:spPr bwMode="auto">
          <a:xfrm>
            <a:off x="1156467" y="1952754"/>
            <a:ext cx="2333297" cy="196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8BBB4E9-0C63-9DB6-D062-6C81FE8CD0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47065" y="3132551"/>
            <a:ext cx="980871" cy="681434"/>
          </a:xfrm>
        </p:spPr>
        <p:txBody>
          <a:bodyPr/>
          <a:lstStyle/>
          <a:p>
            <a:pPr marL="0" indent="0">
              <a:buNone/>
            </a:pPr>
            <a:r>
              <a:rPr lang="en-US" sz="900" i="0" dirty="0">
                <a:solidFill>
                  <a:srgbClr val="374151"/>
                </a:solidFill>
                <a:latin typeface="Söhne"/>
              </a:rPr>
              <a:t>Vaswani et. al., Attention is all you need, 2018.</a:t>
            </a:r>
          </a:p>
          <a:p>
            <a:pPr marL="0" indent="0">
              <a:buNone/>
            </a:pPr>
            <a:r>
              <a:rPr lang="en-US" sz="900" i="0" dirty="0">
                <a:solidFill>
                  <a:srgbClr val="374151"/>
                </a:solidFill>
                <a:latin typeface="Söhne"/>
              </a:rPr>
              <a:t>Devlin et. Al., BERT: Pre-training of deep bidirectional transformers for language understanding,  2018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 </a:t>
            </a:r>
          </a:p>
        </p:txBody>
      </p:sp>
      <p:pic>
        <p:nvPicPr>
          <p:cNvPr id="6160" name="Picture 16" descr="Bert (@bertsesame) / Twitter">
            <a:extLst>
              <a:ext uri="{FF2B5EF4-FFF2-40B4-BE49-F238E27FC236}">
                <a16:creationId xmlns:a16="http://schemas.microsoft.com/office/drawing/2014/main" id="{2AAAAE0C-F9B8-4A21-C777-79F9D08E4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26" y="0"/>
            <a:ext cx="1250074" cy="125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3F1C83-A934-F722-6A96-C92BAFA27B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08" b="8885"/>
          <a:stretch/>
        </p:blipFill>
        <p:spPr>
          <a:xfrm>
            <a:off x="1331008" y="3907026"/>
            <a:ext cx="6616057" cy="1201227"/>
          </a:xfrm>
          <a:prstGeom prst="rect">
            <a:avLst/>
          </a:prstGeom>
        </p:spPr>
      </p:pic>
      <p:pic>
        <p:nvPicPr>
          <p:cNvPr id="6162" name="Picture 18" descr="BERT Language Model. Bert is a simple yet powerful language… | by ...">
            <a:extLst>
              <a:ext uri="{FF2B5EF4-FFF2-40B4-BE49-F238E27FC236}">
                <a16:creationId xmlns:a16="http://schemas.microsoft.com/office/drawing/2014/main" id="{338E3BDF-E3C5-3211-2D70-BD5927161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667" y="1989801"/>
            <a:ext cx="3197462" cy="183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F8112C-CB74-40D5-A622-9BED2E3FAA99}"/>
              </a:ext>
            </a:extLst>
          </p:cNvPr>
          <p:cNvSpPr txBox="1"/>
          <p:nvPr/>
        </p:nvSpPr>
        <p:spPr>
          <a:xfrm>
            <a:off x="3289434" y="3544077"/>
            <a:ext cx="5989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dirty="0"/>
              <a:t>Unidad 5: BERT: </a:t>
            </a:r>
            <a:r>
              <a:rPr lang="en-US" dirty="0" err="1"/>
              <a:t>Atención</a:t>
            </a:r>
            <a:r>
              <a:rPr lang="en-US" dirty="0"/>
              <a:t>, Transformers, Encoders y Decoders</a:t>
            </a:r>
          </a:p>
        </p:txBody>
      </p:sp>
    </p:spTree>
    <p:extLst>
      <p:ext uri="{BB962C8B-B14F-4D97-AF65-F5344CB8AC3E}">
        <p14:creationId xmlns:p14="http://schemas.microsoft.com/office/powerpoint/2010/main" val="344885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5E8D97-30C6-DA26-2E4C-9D0E07FDB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35" y="942141"/>
            <a:ext cx="8312727" cy="305628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GPT (Generative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Pre-trained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Transformer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): Diseñada para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generar texto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Entrenamiento 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autoregresivo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Predice la siguiente palabra, condicionada por las palabras anteriores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Mostró la capacidad de generar texto de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alta calidad, coherente y contextualmente relevante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GPT-2 fue un indicio de las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capacidades emergentes 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en la escalabilidad.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Zero-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shot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sin fine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tuning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374151"/>
                </a:solidFill>
                <a:latin typeface="Söhne"/>
              </a:rPr>
              <a:t>Reveló el potencial de los </a:t>
            </a:r>
            <a:r>
              <a:rPr lang="es-ES" sz="1500" b="1" dirty="0">
                <a:solidFill>
                  <a:srgbClr val="374151"/>
                </a:solidFill>
                <a:latin typeface="Söhne"/>
              </a:rPr>
              <a:t>modelos a gran escala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y la importancia de aumentar el tamaño del modelo.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3F7E4-D7A9-950C-155C-533897B663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388295" y="4545115"/>
            <a:ext cx="4463005" cy="558324"/>
          </a:xfrm>
        </p:spPr>
        <p:txBody>
          <a:bodyPr/>
          <a:lstStyle/>
          <a:p>
            <a:pPr marL="0" indent="0">
              <a:buNone/>
            </a:pPr>
            <a:r>
              <a:rPr lang="en-GB" sz="1000" i="0" dirty="0">
                <a:solidFill>
                  <a:srgbClr val="374151"/>
                </a:solidFill>
                <a:latin typeface="Söhne"/>
              </a:rPr>
              <a:t>Radford et. Al., 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Language models are unsupervised multitask learners, 2019</a:t>
            </a:r>
          </a:p>
          <a:p>
            <a:pPr marL="0" indent="0">
              <a:buNone/>
            </a:pPr>
            <a:r>
              <a:rPr lang="en-US" sz="1000" i="0" dirty="0">
                <a:solidFill>
                  <a:srgbClr val="374151"/>
                </a:solidFill>
                <a:latin typeface="Söhne"/>
              </a:rPr>
              <a:t>Radford et. Al, </a:t>
            </a:r>
            <a:r>
              <a:rPr lang="en-US" sz="1000" b="0" i="0" dirty="0">
                <a:solidFill>
                  <a:srgbClr val="374151"/>
                </a:solidFill>
                <a:effectLst/>
                <a:latin typeface="Söhne"/>
              </a:rPr>
              <a:t>Improving language understanding by generative pre-training</a:t>
            </a:r>
            <a:r>
              <a:rPr lang="en-US" sz="1000" i="0" dirty="0">
                <a:solidFill>
                  <a:srgbClr val="374151"/>
                </a:solidFill>
                <a:latin typeface="Söhne"/>
              </a:rPr>
              <a:t>, 2018</a:t>
            </a:r>
            <a:endParaRPr lang="en-US" sz="1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C5F69-7682-985E-EE2C-8078E5951A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0702A8-9240-5ADC-6D03-C1A1F556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Autoregresivos</a:t>
            </a:r>
            <a:r>
              <a:rPr lang="en-US" dirty="0"/>
              <a:t> </a:t>
            </a:r>
            <a:r>
              <a:rPr lang="en-US" dirty="0" err="1"/>
              <a:t>basados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Transformers</a:t>
            </a:r>
          </a:p>
        </p:txBody>
      </p:sp>
      <p:pic>
        <p:nvPicPr>
          <p:cNvPr id="7170" name="Picture 2" descr="Generalized Language Models | Lil'Log">
            <a:extLst>
              <a:ext uri="{FF2B5EF4-FFF2-40B4-BE49-F238E27FC236}">
                <a16:creationId xmlns:a16="http://schemas.microsoft.com/office/drawing/2014/main" id="{C704EFFF-F1C3-4972-B016-8E1ED1A3C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2" t="4138" r="48161" b="3264"/>
          <a:stretch/>
        </p:blipFill>
        <p:spPr bwMode="auto">
          <a:xfrm>
            <a:off x="3891" y="3105236"/>
            <a:ext cx="2291256" cy="199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FBD5FA-82A9-7B09-DC4D-782AF634B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44" b="18277"/>
          <a:stretch/>
        </p:blipFill>
        <p:spPr>
          <a:xfrm>
            <a:off x="141914" y="2603612"/>
            <a:ext cx="2015209" cy="444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E1DA35-1D55-E8D4-06F8-9965A5AB9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892" y="2801608"/>
            <a:ext cx="6292890" cy="1843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83E3F7-A885-86E4-FB7E-608A1CAF478B}"/>
              </a:ext>
            </a:extLst>
          </p:cNvPr>
          <p:cNvSpPr txBox="1"/>
          <p:nvPr/>
        </p:nvSpPr>
        <p:spPr>
          <a:xfrm>
            <a:off x="3360165" y="2470283"/>
            <a:ext cx="5568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dirty="0"/>
              <a:t>Unidad 6: GPT: Pretraining y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Generativos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57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2F9767-22B6-5357-336F-D3DCC4302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3" y="1001195"/>
            <a:ext cx="8975834" cy="3056285"/>
          </a:xfrm>
        </p:spPr>
        <p:txBody>
          <a:bodyPr/>
          <a:lstStyle/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Escalabilidad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en GPT-3: Modelo con 175 mil millones de parámetros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Zero-</a:t>
            </a:r>
            <a:r>
              <a:rPr lang="es-ES" sz="1500" b="1" dirty="0" err="1">
                <a:solidFill>
                  <a:srgbClr val="374151"/>
                </a:solidFill>
                <a:latin typeface="Söhne"/>
              </a:rPr>
              <a:t>shot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Realiza tareas sin entrenamiento adicional, utilizando el conocimiento previo del preentrenamiento.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Propiedades emergentes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Capacidad de “razonamiento” entiende las tareas a realizar sin entrenamiento especifico (escribir código, historias, responder preguntas, traducir, etc.).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Alucinación y Sesgos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Pueden generar información incorrecta o inventada, sesgada al entrenamiento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_tradnl" sz="1500" noProof="0" dirty="0">
                <a:solidFill>
                  <a:srgbClr val="374151"/>
                </a:solidFill>
                <a:latin typeface="Söhne"/>
              </a:rPr>
              <a:t>Sensibilidad a la formulación del </a:t>
            </a:r>
            <a:r>
              <a:rPr lang="es-ES_tradnl" sz="1500" b="1" noProof="0" dirty="0" err="1">
                <a:solidFill>
                  <a:srgbClr val="374151"/>
                </a:solidFill>
                <a:latin typeface="Söhne"/>
              </a:rPr>
              <a:t>prompt</a:t>
            </a:r>
            <a:r>
              <a:rPr lang="es-ES_tradnl" sz="1500" noProof="0" dirty="0">
                <a:solidFill>
                  <a:srgbClr val="374151"/>
                </a:solidFill>
                <a:latin typeface="Söhne"/>
              </a:rPr>
              <a:t> y falta de garantía. 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374151"/>
                </a:solidFill>
                <a:latin typeface="Söhne"/>
              </a:rPr>
              <a:t>Costo de ejecución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El entrenamiento y ejecución de modelos de gran escala como GPT-3 puede ser costoso en términos de recursos computacionales y energéticos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F66B8-EBF2-D8BA-80D8-1E9E378E1D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9414" y="4034195"/>
            <a:ext cx="1400503" cy="435213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Lucida Grande"/>
              </a:rPr>
              <a:t>Language Models are Few-Shot Learners, Brown et. al. 2020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Lucida Grande"/>
              </a:rPr>
              <a:t>GPT-4 Technical Report,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Lucida Grande"/>
              </a:rPr>
              <a:t>OpenAI</a:t>
            </a:r>
            <a:r>
              <a:rPr lang="en-US" b="1" i="0" dirty="0">
                <a:solidFill>
                  <a:srgbClr val="000000"/>
                </a:solidFill>
                <a:effectLst/>
                <a:latin typeface="Lucida Grande"/>
              </a:rPr>
              <a:t>, 2023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2BCF7-9651-4016-9BC5-737324E924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97F0E6-A1C6-F754-9546-C631CB54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519" y="288378"/>
            <a:ext cx="7780169" cy="338554"/>
          </a:xfrm>
        </p:spPr>
        <p:txBody>
          <a:bodyPr/>
          <a:lstStyle/>
          <a:p>
            <a:r>
              <a:rPr lang="en-US" dirty="0"/>
              <a:t>GPT-3/4: </a:t>
            </a:r>
            <a:r>
              <a:rPr lang="en-US" dirty="0" err="1"/>
              <a:t>Escalabilidad</a:t>
            </a:r>
            <a:r>
              <a:rPr lang="en-US" dirty="0"/>
              <a:t>, Zero-shot y </a:t>
            </a:r>
            <a:r>
              <a:rPr lang="en-US" dirty="0" err="1"/>
              <a:t>Capacidades</a:t>
            </a:r>
            <a:r>
              <a:rPr lang="en-US" dirty="0"/>
              <a:t> </a:t>
            </a:r>
            <a:r>
              <a:rPr lang="en-US" dirty="0" err="1"/>
              <a:t>Emergentes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30FD2-9663-3221-FE2D-9F0ED064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23" y="3315004"/>
            <a:ext cx="2714518" cy="17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44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2162CC-5BCD-EB72-062A-F876FB05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rgbClr val="374151"/>
                </a:solidFill>
                <a:latin typeface="Söhne"/>
              </a:rPr>
              <a:t>ChatGPT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: Diseñado para superar la dificultad en controlar la generación de los modelos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autoregresivos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para mantener conversaciones naturales, entendiendo y respondiendo a instrucciones del usuario.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rgbClr val="374151"/>
                </a:solidFill>
                <a:latin typeface="Söhne"/>
              </a:rPr>
              <a:t>Reinforcement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Learning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(RLHF): Entrenamiento de </a:t>
            </a:r>
            <a:r>
              <a:rPr lang="es-ES" sz="1500" dirty="0" err="1">
                <a:solidFill>
                  <a:srgbClr val="374151"/>
                </a:solidFill>
                <a:latin typeface="Söhne"/>
              </a:rPr>
              <a:t>ChatGPT</a:t>
            </a:r>
            <a:r>
              <a:rPr lang="es-ES" sz="1500" dirty="0">
                <a:solidFill>
                  <a:srgbClr val="374151"/>
                </a:solidFill>
                <a:latin typeface="Söhne"/>
              </a:rPr>
              <a:t> utilizando retroalimentación de evaluadores humanos para mejorar su rendimiento, corregir sesgos y evitar alucinaciones.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D2E23-94D0-AFA1-3BC6-1EA6DC79F4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9583" y="4734978"/>
            <a:ext cx="3407698" cy="240288"/>
          </a:xfrm>
        </p:spPr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Lucida Grande"/>
              </a:rPr>
              <a:t>Training language models to follow instructions with human feedback, Ouyang et. Al. 2022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B1FC6-E974-1917-93B7-854EAB9D5C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FF5400-3176-7113-FC61-1B66D3C3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, Instructions and RLHF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E1C3DF-EB25-56E7-29F7-0FA8AA341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83" b="-402"/>
          <a:stretch/>
        </p:blipFill>
        <p:spPr>
          <a:xfrm>
            <a:off x="1008697" y="2272039"/>
            <a:ext cx="7009672" cy="2158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4EAAF-EF9B-29D0-0635-1962E27D380D}"/>
              </a:ext>
            </a:extLst>
          </p:cNvPr>
          <p:cNvSpPr txBox="1"/>
          <p:nvPr/>
        </p:nvSpPr>
        <p:spPr>
          <a:xfrm>
            <a:off x="4309712" y="632741"/>
            <a:ext cx="5568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7: ChatGPT: RLHF, DPO e Instruction Tuning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57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321AEC-8CF4-0DCA-A654-A5C6F5510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142539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b="1" dirty="0">
                <a:solidFill>
                  <a:srgbClr val="374151"/>
                </a:solidFill>
                <a:latin typeface="Söhne"/>
              </a:rPr>
              <a:t>Desafíos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LLMs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: 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Costos computacionales elevados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Consumo de energía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Accesibilidad limitada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Escasez Hardware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b="1" dirty="0">
                <a:solidFill>
                  <a:srgbClr val="374151"/>
                </a:solidFill>
                <a:latin typeface="Söhne"/>
              </a:rPr>
              <a:t>Destilación del conocimiento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: Transferencia de información de un modelo grande a uno más pequeño, manteniendo rendimiento con menor tamaño y complejidad.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B14FC-7006-B5EB-E39D-AC5A2001D1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324A0-A6DF-B5A3-9FD2-C98656A2D8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00752E-AC52-6B5B-C6B0-1F61DD23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1" y="288378"/>
            <a:ext cx="8339902" cy="677108"/>
          </a:xfrm>
        </p:spPr>
        <p:txBody>
          <a:bodyPr/>
          <a:lstStyle/>
          <a:p>
            <a:r>
              <a:rPr lang="en-US" dirty="0"/>
              <a:t>De Gigantes a </a:t>
            </a:r>
            <a:r>
              <a:rPr lang="en-US" dirty="0" err="1"/>
              <a:t>Compactos</a:t>
            </a:r>
            <a:r>
              <a:rPr lang="en-US" dirty="0"/>
              <a:t>: </a:t>
            </a:r>
            <a:r>
              <a:rPr lang="en-US" dirty="0" err="1"/>
              <a:t>Descalando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Lenguaje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04F3F-1E5B-55F7-9123-AAD8B29F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342" y="2999446"/>
            <a:ext cx="4467455" cy="1514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390387-7B00-4CD8-B8CA-107733D59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85" y="2821568"/>
            <a:ext cx="3289738" cy="1870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B5A6DC-3F9F-F95B-5663-9151C27F5281}"/>
              </a:ext>
            </a:extLst>
          </p:cNvPr>
          <p:cNvSpPr txBox="1"/>
          <p:nvPr/>
        </p:nvSpPr>
        <p:spPr>
          <a:xfrm>
            <a:off x="3467501" y="713030"/>
            <a:ext cx="5568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8: Distillation,  </a:t>
            </a:r>
            <a:r>
              <a:rPr lang="en-US" sz="16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Especializaci</a:t>
            </a:r>
            <a:r>
              <a:rPr lang="es-AR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ón</a:t>
            </a:r>
            <a:r>
              <a:rPr lang="es-AR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y </a:t>
            </a:r>
            <a:r>
              <a:rPr lang="es-AR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Reasoning</a:t>
            </a:r>
            <a:r>
              <a:rPr lang="es-AR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39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6DC3-1DC6-9B02-CFE0-0B28F5D2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E3F7D1-F822-6FA3-0725-5ED296DCB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142539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Una visión probabilística de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Prompt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Engineering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Taxonomía y practica de las principales técnicas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COT</a:t>
            </a: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COT as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prompt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augmentation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Zero-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shot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vs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Few-shot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74151"/>
                </a:solidFill>
                <a:latin typeface="Söhne"/>
              </a:rPr>
              <a:t>Automatic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Reasoning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and Tool-use (ART)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74151"/>
                </a:solidFill>
                <a:latin typeface="Söhne"/>
              </a:rPr>
              <a:t>Labeled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transition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systems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Relación entre número de parámetros y técnicas a utilizar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Outputs estructurados: ventajas y desventajas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Uso de las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APIs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de los proveedores principales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Implementación de clon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Perplexity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/Deep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Research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613FE-9BCB-390D-F0A9-E3D521CA39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77837" y="-1370287"/>
            <a:ext cx="4531205" cy="1280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D6E08D-9B2E-F283-0F95-FC34567E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1" y="288378"/>
            <a:ext cx="8339902" cy="338554"/>
          </a:xfrm>
        </p:spPr>
        <p:txBody>
          <a:bodyPr/>
          <a:lstStyle/>
          <a:p>
            <a:r>
              <a:rPr lang="en-US" dirty="0"/>
              <a:t>Prompt Engineering: </a:t>
            </a:r>
            <a:r>
              <a:rPr lang="en-US" dirty="0" err="1"/>
              <a:t>interactuando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84323D-561B-E0F0-E57F-D51D94C00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343" y="0"/>
            <a:ext cx="2028090" cy="305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21E145-40AA-9752-6C06-A34C48256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404" y="2663710"/>
            <a:ext cx="2297182" cy="192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7A91B6-F61A-8236-0770-5A04BAE9B26E}"/>
              </a:ext>
            </a:extLst>
          </p:cNvPr>
          <p:cNvSpPr txBox="1"/>
          <p:nvPr/>
        </p:nvSpPr>
        <p:spPr>
          <a:xfrm>
            <a:off x="1416672" y="4347290"/>
            <a:ext cx="3714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9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: Prompt Engineering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4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31B63-F9F5-2FC3-4FF9-9716B4CF07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9A0F0-22FA-C000-C5D8-99DDCF68AC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9D34F8-19BC-12F4-A8B2-7796DA60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R" dirty="0"/>
              <a:t>Information Retrieval y RAG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CD7EE-1374-C7D3-D895-679BD0E9D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9" y="1201958"/>
            <a:ext cx="3945858" cy="2211491"/>
          </a:xfrm>
          <a:prstGeom prst="rect">
            <a:avLst/>
          </a:prstGeom>
        </p:spPr>
      </p:pic>
      <p:pic>
        <p:nvPicPr>
          <p:cNvPr id="2052" name="Picture 4" descr="Retrieval Augmented Generation (RAG) for LLMs | Prompt Engineering Guide">
            <a:extLst>
              <a:ext uri="{FF2B5EF4-FFF2-40B4-BE49-F238E27FC236}">
                <a16:creationId xmlns:a16="http://schemas.microsoft.com/office/drawing/2014/main" id="{61F52185-7C45-1364-39C1-6075BFA73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464" y="1157354"/>
            <a:ext cx="4201333" cy="247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C4BB30-1BD2-57B3-F3C8-210A63404BA6}"/>
              </a:ext>
            </a:extLst>
          </p:cNvPr>
          <p:cNvSpPr txBox="1"/>
          <p:nvPr/>
        </p:nvSpPr>
        <p:spPr>
          <a:xfrm>
            <a:off x="2459659" y="3816869"/>
            <a:ext cx="3869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10: Information Retrieval y RAG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697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BD7B-457C-5FB5-5798-1036A155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31AA56-8372-6126-4432-430600EB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142539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Sistemas de recomendaciones: de Instagram a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Youtube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pasando por Twitter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Cómo se diseña, implementa y monitorea un pipeline industrial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Arquitecturas para sistemas de recomendaciones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Collaborative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filtering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,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Two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Tower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Sparse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Networks 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(TTSN),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etc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Métricas 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74151"/>
                </a:solidFill>
                <a:latin typeface="Söhne"/>
              </a:rPr>
              <a:t>Metricas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online y offline para sistemas de recomendaciones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El desafío de las métricas con AI generativa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Patrones de diseño de ML industrial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Embedding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refresh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y 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data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drift</a:t>
            </a:r>
            <a:endParaRPr lang="es-ES" sz="1300" i="1" dirty="0">
              <a:solidFill>
                <a:srgbClr val="374151"/>
              </a:solidFill>
              <a:latin typeface="Söhne"/>
            </a:endParaRP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Sharding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: usos y problemática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Embudos: el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holy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grail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de los sistemas de recomendaciones</a:t>
            </a: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Importancia de los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fallbacks</a:t>
            </a:r>
            <a:endParaRPr lang="es-ES" sz="1300" i="1" dirty="0">
              <a:solidFill>
                <a:srgbClr val="374151"/>
              </a:solidFill>
              <a:latin typeface="Söhne"/>
            </a:endParaRPr>
          </a:p>
          <a:p>
            <a:pPr marL="447454" lvl="2" indent="-171450">
              <a:buFont typeface="Arial" panose="020B0604020202020204" pitchFamily="34" charset="0"/>
              <a:buChar char="•"/>
            </a:pPr>
            <a:r>
              <a:rPr lang="es-ES" sz="1300" dirty="0" err="1">
                <a:solidFill>
                  <a:srgbClr val="374151"/>
                </a:solidFill>
                <a:latin typeface="Söhne"/>
              </a:rPr>
              <a:t>Caching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: usos y problemáticas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C0CE-E7FF-A18C-2214-CB71827169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77837" y="-1370287"/>
            <a:ext cx="4531205" cy="1280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1F3CCB-5A88-32B4-AD1D-8467AB6E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1" y="288378"/>
            <a:ext cx="8339902" cy="338554"/>
          </a:xfrm>
        </p:spPr>
        <p:txBody>
          <a:bodyPr/>
          <a:lstStyle/>
          <a:p>
            <a:r>
              <a:rPr lang="en-US" dirty="0" err="1"/>
              <a:t>Tópicos</a:t>
            </a:r>
            <a:r>
              <a:rPr lang="en-US" dirty="0"/>
              <a:t> de NLP </a:t>
            </a:r>
            <a:r>
              <a:rPr lang="en-US" dirty="0" err="1"/>
              <a:t>aplicada</a:t>
            </a:r>
            <a:r>
              <a:rPr lang="en-US" dirty="0"/>
              <a:t> (I)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03687654-04E0-77B1-3589-8A42FDD1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71749"/>
            <a:ext cx="4114800" cy="2018286"/>
          </a:xfrm>
          <a:prstGeom prst="rect">
            <a:avLst/>
          </a:prstGeom>
        </p:spPr>
      </p:pic>
      <p:pic>
        <p:nvPicPr>
          <p:cNvPr id="3074" name="Picture 2" descr="Basics of Recommendation Systems - Cankat Saraç">
            <a:extLst>
              <a:ext uri="{FF2B5EF4-FFF2-40B4-BE49-F238E27FC236}">
                <a16:creationId xmlns:a16="http://schemas.microsoft.com/office/drawing/2014/main" id="{0A4D6917-EAB3-514A-CC89-C070A49F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249" y="1218689"/>
            <a:ext cx="2329736" cy="89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096E9C-0FB8-2DB7-4318-FD979500A59D}"/>
              </a:ext>
            </a:extLst>
          </p:cNvPr>
          <p:cNvSpPr txBox="1"/>
          <p:nvPr/>
        </p:nvSpPr>
        <p:spPr>
          <a:xfrm>
            <a:off x="2931146" y="4707431"/>
            <a:ext cx="3869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Unidad 11: NLP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</a:t>
            </a:r>
            <a:r>
              <a:rPr lang="en-US" sz="16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plicada</a:t>
            </a:r>
            <a:endParaRPr lang="en-US" sz="1600" b="0" i="0" dirty="0"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6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D67C-811E-CB4A-2B61-01D65F96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7B1041-2104-210A-8AE2-67733085C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46" y="1043607"/>
            <a:ext cx="8142539" cy="305628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Model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Serving</a:t>
            </a:r>
            <a:endParaRPr lang="es-ES" sz="1300" i="1" dirty="0">
              <a:solidFill>
                <a:srgbClr val="374151"/>
              </a:solidFill>
              <a:latin typeface="Söhne"/>
            </a:endParaRP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Inferencia: 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Online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vs </a:t>
            </a:r>
            <a:r>
              <a:rPr lang="es-ES" sz="1300" i="1" dirty="0">
                <a:solidFill>
                  <a:srgbClr val="374151"/>
                </a:solidFill>
                <a:latin typeface="Söhne"/>
              </a:rPr>
              <a:t>Offline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,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batched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vs non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batched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El rol de las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GPUs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y su cálculo económico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Opciones para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serving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: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wrappers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OpenAI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a data centers propios</a:t>
            </a: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Ventajas, desventajas y recomendaciones para cada caso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Monitoreo y </a:t>
            </a: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troubleshooting</a:t>
            </a:r>
            <a:endParaRPr lang="es-ES" sz="1300" i="1" dirty="0">
              <a:solidFill>
                <a:srgbClr val="374151"/>
              </a:solidFill>
              <a:latin typeface="Söhne"/>
            </a:endParaRP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i="1" dirty="0" err="1">
                <a:solidFill>
                  <a:srgbClr val="374151"/>
                </a:solidFill>
                <a:latin typeface="Söhne"/>
              </a:rPr>
              <a:t>Dashboards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 y alertas </a:t>
            </a: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Protocolos frente a fallas</a:t>
            </a:r>
          </a:p>
          <a:p>
            <a:pPr marL="723457" lvl="4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374151"/>
                </a:solidFill>
                <a:latin typeface="Söhne"/>
              </a:rPr>
              <a:t>¿Cómo se </a:t>
            </a:r>
            <a:r>
              <a:rPr lang="es-ES" sz="1100" dirty="0" err="1">
                <a:solidFill>
                  <a:srgbClr val="374151"/>
                </a:solidFill>
                <a:latin typeface="Söhne"/>
              </a:rPr>
              <a:t>debuggea</a:t>
            </a:r>
            <a:r>
              <a:rPr lang="es-ES" sz="1100" dirty="0">
                <a:solidFill>
                  <a:srgbClr val="374151"/>
                </a:solidFill>
                <a:latin typeface="Söhne"/>
              </a:rPr>
              <a:t> un sistema de ML industrial?</a:t>
            </a:r>
          </a:p>
          <a:p>
            <a:pPr marL="581003" lvl="3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Cultura: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oncalls</a:t>
            </a:r>
            <a:r>
              <a:rPr lang="es-ES" sz="1300" dirty="0">
                <a:solidFill>
                  <a:srgbClr val="374151"/>
                </a:solidFill>
                <a:latin typeface="Söhne"/>
              </a:rPr>
              <a:t>, mejora continua y </a:t>
            </a:r>
            <a:r>
              <a:rPr lang="es-ES" sz="1300" dirty="0" err="1">
                <a:solidFill>
                  <a:srgbClr val="374151"/>
                </a:solidFill>
                <a:latin typeface="Söhne"/>
              </a:rPr>
              <a:t>rollbacks</a:t>
            </a:r>
            <a:endParaRPr lang="es-ES" sz="1300" dirty="0">
              <a:solidFill>
                <a:srgbClr val="374151"/>
              </a:solidFill>
              <a:latin typeface="Söh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rgbClr val="374151"/>
                </a:solidFill>
                <a:latin typeface="Söhne"/>
              </a:rPr>
              <a:t>Sistemas de recomendaciones </a:t>
            </a:r>
          </a:p>
          <a:p>
            <a:pPr marL="305000" lvl="1" indent="-171450">
              <a:buFont typeface="Arial" panose="020B0604020202020204" pitchFamily="34" charset="0"/>
              <a:buChar char="•"/>
            </a:pPr>
            <a:endParaRPr lang="es-ES" sz="13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8DA3B-7A75-D99B-176D-7E4BBB17B2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77837" y="-1370287"/>
            <a:ext cx="4531205" cy="1280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DFAE3E-D52B-5EE1-DE94-ACFD647C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1" y="288378"/>
            <a:ext cx="8339902" cy="338554"/>
          </a:xfrm>
        </p:spPr>
        <p:txBody>
          <a:bodyPr/>
          <a:lstStyle/>
          <a:p>
            <a:r>
              <a:rPr lang="en-US" dirty="0" err="1"/>
              <a:t>Tópicos</a:t>
            </a:r>
            <a:r>
              <a:rPr lang="en-US" dirty="0"/>
              <a:t> de NLP </a:t>
            </a:r>
            <a:r>
              <a:rPr lang="en-US" dirty="0" err="1"/>
              <a:t>aplicada</a:t>
            </a:r>
            <a:r>
              <a:rPr lang="en-US" dirty="0"/>
              <a:t> (II)</a:t>
            </a:r>
          </a:p>
        </p:txBody>
      </p:sp>
      <p:pic>
        <p:nvPicPr>
          <p:cNvPr id="5122" name="Picture 2" descr="AI Dashboard Design Services Agency | Fuselab Creative">
            <a:extLst>
              <a:ext uri="{FF2B5EF4-FFF2-40B4-BE49-F238E27FC236}">
                <a16:creationId xmlns:a16="http://schemas.microsoft.com/office/drawing/2014/main" id="{E778752F-D75E-8EC1-AEFD-9492185B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280" y="2780246"/>
            <a:ext cx="3737113" cy="207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eta Collaborates with NVIDIA on AI Research Supercomputer | NVIDIA Blog">
            <a:extLst>
              <a:ext uri="{FF2B5EF4-FFF2-40B4-BE49-F238E27FC236}">
                <a16:creationId xmlns:a16="http://schemas.microsoft.com/office/drawing/2014/main" id="{68B8F51D-AAC2-81EE-6C6B-DE054781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65" y="157053"/>
            <a:ext cx="3720548" cy="197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22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CC0D-C8AB-6D7F-EC63-ABA73BD1B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39975"/>
            <a:ext cx="6858000" cy="692497"/>
          </a:xfrm>
        </p:spPr>
        <p:txBody>
          <a:bodyPr/>
          <a:lstStyle/>
          <a:p>
            <a:r>
              <a:rPr lang="en-AR" dirty="0"/>
              <a:t>Algunos Ejemplos TPs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16B6F-315D-2042-0FCE-81549FC2E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R" dirty="0"/>
              <a:t>(de cursos pasados)</a:t>
            </a:r>
          </a:p>
        </p:txBody>
      </p:sp>
    </p:spTree>
    <p:extLst>
      <p:ext uri="{BB962C8B-B14F-4D97-AF65-F5344CB8AC3E}">
        <p14:creationId xmlns:p14="http://schemas.microsoft.com/office/powerpoint/2010/main" val="1956037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BD7C-D180-8375-9AA9-285BD5CE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8882-A337-9878-7AC2-4A72048B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AR" dirty="0"/>
              <a:t>Prediccion de paros de colectivos</a:t>
            </a:r>
          </a:p>
          <a:p>
            <a:pPr lvl="2"/>
            <a:r>
              <a:rPr lang="en-AR" dirty="0"/>
              <a:t>Scrapear las noticias del dia y determinar si hay algun paro de alguna linea de colectivo.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Linkear codigo en github a papers</a:t>
            </a:r>
          </a:p>
          <a:p>
            <a:pPr lvl="2"/>
            <a:r>
              <a:rPr lang="en-AR" dirty="0"/>
              <a:t>Dados papers y sus repositorios linear porciones del paper al codigo implementando esa seccion.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Moral aligment in LLMs</a:t>
            </a:r>
          </a:p>
          <a:p>
            <a:pPr lvl="2"/>
            <a:r>
              <a:rPr lang="en-AR" dirty="0"/>
              <a:t>Estudiar preferencias morales de los LLMS (paper aceptado en EMNLP) [</a:t>
            </a:r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/2024.emnlp-main.1224/</a:t>
            </a:r>
            <a:r>
              <a:rPr lang="en-AR" dirty="0"/>
              <a:t>]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Especializacion de modelos en lenguajes de bajos recursos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Entrenar al modelo para canciones de cancha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Generacion de titulos de noticias de alto engagement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Estructurar datos de menues de pedidos ya</a:t>
            </a:r>
          </a:p>
          <a:p>
            <a:pPr lvl="2"/>
            <a:r>
              <a:rPr lang="en-AR" dirty="0"/>
              <a:t>Estructurar la data interna de los menues (de texto corrido a JSON)</a:t>
            </a:r>
          </a:p>
          <a:p>
            <a:pPr marL="385763" indent="-385763">
              <a:buFont typeface="+mj-lt"/>
              <a:buAutoNum type="arabicPeriod"/>
            </a:pPr>
            <a:r>
              <a:rPr lang="en-AR" dirty="0"/>
              <a:t>Anonimizacion de Fallos Judiciales</a:t>
            </a:r>
          </a:p>
          <a:p>
            <a:pPr lvl="2"/>
            <a:r>
              <a:rPr lang="en-AR" dirty="0"/>
              <a:t>Remover entidades que deberian ser anonimas (testigos, victimas, etc) de fallos judiciales.</a:t>
            </a:r>
          </a:p>
        </p:txBody>
      </p:sp>
    </p:spTree>
    <p:extLst>
      <p:ext uri="{BB962C8B-B14F-4D97-AF65-F5344CB8AC3E}">
        <p14:creationId xmlns:p14="http://schemas.microsoft.com/office/powerpoint/2010/main" val="892111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E898-4A1B-D03E-E8D2-7BBDF052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C4A0-233B-6DB3-B548-804ECEAE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EC2E9-BE67-D0FD-03E4-20669DF74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_tradnl" noProof="0" dirty="0"/>
              <a:t>9. Fine-</a:t>
            </a:r>
            <a:r>
              <a:rPr lang="es-ES_tradnl" noProof="0" dirty="0" err="1"/>
              <a:t>tuning</a:t>
            </a:r>
            <a:r>
              <a:rPr lang="es-ES_tradnl" noProof="0" dirty="0"/>
              <a:t> para </a:t>
            </a:r>
            <a:r>
              <a:rPr lang="es-ES_tradnl" noProof="0" dirty="0" err="1"/>
              <a:t>prompt</a:t>
            </a:r>
            <a:r>
              <a:rPr lang="es-ES_tradnl" noProof="0" dirty="0"/>
              <a:t> </a:t>
            </a:r>
            <a:r>
              <a:rPr lang="es-ES_tradnl" noProof="0" dirty="0" err="1"/>
              <a:t>optimization</a:t>
            </a:r>
            <a:endParaRPr lang="es-ES_tradnl" noProof="0" dirty="0"/>
          </a:p>
          <a:p>
            <a:pPr lvl="2"/>
            <a:r>
              <a:rPr lang="es-ES_tradnl" noProof="0" dirty="0"/>
              <a:t>Fine tunear un modelo de 3B de parámetros para que mejore los </a:t>
            </a:r>
            <a:r>
              <a:rPr lang="es-ES_tradnl" noProof="0" dirty="0" err="1"/>
              <a:t>prompts</a:t>
            </a:r>
            <a:r>
              <a:rPr lang="es-ES_tradnl" noProof="0" dirty="0"/>
              <a:t>.</a:t>
            </a:r>
          </a:p>
          <a:p>
            <a:r>
              <a:rPr lang="es-ES_tradnl" noProof="0" dirty="0"/>
              <a:t>10. Generación de </a:t>
            </a:r>
            <a:r>
              <a:rPr lang="es-ES_tradnl" noProof="0" dirty="0" err="1"/>
              <a:t>Knowledge-Graphs</a:t>
            </a:r>
            <a:r>
              <a:rPr lang="es-ES_tradnl" noProof="0" dirty="0"/>
              <a:t> para narrativa</a:t>
            </a:r>
          </a:p>
          <a:p>
            <a:pPr lvl="2"/>
            <a:r>
              <a:rPr lang="es-ES_tradnl" noProof="0" dirty="0"/>
              <a:t>Generar un KG para novelas, cuentos, etc.</a:t>
            </a:r>
          </a:p>
          <a:p>
            <a:r>
              <a:rPr lang="es-ES_tradnl" noProof="0" dirty="0"/>
              <a:t>11. Detección de discurso de odio en </a:t>
            </a:r>
            <a:r>
              <a:rPr lang="es-ES_tradnl" noProof="0" dirty="0" err="1"/>
              <a:t>twitter</a:t>
            </a:r>
            <a:endParaRPr lang="es-ES_tradnl" noProof="0" dirty="0"/>
          </a:p>
          <a:p>
            <a:r>
              <a:rPr lang="es-ES_tradnl" noProof="0" dirty="0"/>
              <a:t>12. Asistente para generación de informes de recursos humanos</a:t>
            </a:r>
          </a:p>
          <a:p>
            <a:pPr lvl="2"/>
            <a:r>
              <a:rPr lang="es-ES_tradnl" noProof="0" dirty="0"/>
              <a:t>Dada una entrevista con un candidato generar el reporte</a:t>
            </a:r>
          </a:p>
          <a:p>
            <a:r>
              <a:rPr lang="es-ES_tradnl" noProof="0" dirty="0"/>
              <a:t>13. Fine-</a:t>
            </a:r>
            <a:r>
              <a:rPr lang="es-ES_tradnl" noProof="0" dirty="0" err="1"/>
              <a:t>tuning</a:t>
            </a:r>
            <a:r>
              <a:rPr lang="es-ES_tradnl" noProof="0" dirty="0"/>
              <a:t> de GPT-2 para consultas acerca de salud mental</a:t>
            </a:r>
          </a:p>
          <a:p>
            <a:pPr lvl="2"/>
            <a:r>
              <a:rPr lang="es-ES_tradnl" noProof="0" dirty="0"/>
              <a:t>Entrenar el modelo para especializarse en consultas psicológicas</a:t>
            </a:r>
          </a:p>
          <a:p>
            <a:r>
              <a:rPr lang="es-ES_tradnl" noProof="0" dirty="0"/>
              <a:t>14. </a:t>
            </a:r>
            <a:r>
              <a:rPr lang="es-ES_tradnl" noProof="0" dirty="0" err="1"/>
              <a:t>Ortogonalizando</a:t>
            </a:r>
            <a:r>
              <a:rPr lang="es-ES_tradnl" noProof="0" dirty="0"/>
              <a:t> Lenguajes</a:t>
            </a:r>
          </a:p>
          <a:p>
            <a:pPr lvl="2"/>
            <a:r>
              <a:rPr lang="es-ES_tradnl" noProof="0" dirty="0"/>
              <a:t>Descubrir </a:t>
            </a:r>
            <a:r>
              <a:rPr lang="es-ES_tradnl" noProof="0" dirty="0" err="1"/>
              <a:t>features</a:t>
            </a:r>
            <a:r>
              <a:rPr lang="es-ES_tradnl" noProof="0" dirty="0"/>
              <a:t> (vectores) del modelo que generar comportamientos o personalidades diferentes (un modelo que siempre esta depre, uno que nunca niega, uno que responde en un solo idioma, etc.).</a:t>
            </a:r>
          </a:p>
          <a:p>
            <a:r>
              <a:rPr lang="es-ES_tradnl" noProof="0" dirty="0"/>
              <a:t>15. Detección de Amarillismo</a:t>
            </a:r>
          </a:p>
          <a:p>
            <a:pPr lvl="2"/>
            <a:r>
              <a:rPr lang="es-ES_tradnl" noProof="0" dirty="0"/>
              <a:t>Detectar amarillismo en artículos periodísticos</a:t>
            </a:r>
          </a:p>
          <a:p>
            <a:r>
              <a:rPr lang="es-ES_tradnl" noProof="0" dirty="0"/>
              <a:t>16. Resúmenes de reseñas en Mercado Libre</a:t>
            </a:r>
          </a:p>
          <a:p>
            <a:pPr lvl="2"/>
            <a:r>
              <a:rPr lang="es-ES_tradnl" noProof="0" dirty="0"/>
              <a:t>Dadas distintas reseñas de mercado libre generar un resumen del producto</a:t>
            </a:r>
          </a:p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037791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C55D-898E-78B3-585C-C1A7D364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A446-150F-3183-B4E2-2D8C1F86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5B79-BF25-F89D-E441-18D8A1B0E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noProof="0" dirty="0"/>
              <a:t>18. Detección</a:t>
            </a:r>
            <a:r>
              <a:rPr lang="es-ES_tradnl" dirty="0" err="1"/>
              <a:t>on</a:t>
            </a:r>
            <a:r>
              <a:rPr lang="es-ES_tradnl" noProof="0" dirty="0"/>
              <a:t> de personas con enfermedad de Alzheimer</a:t>
            </a:r>
          </a:p>
          <a:p>
            <a:r>
              <a:rPr lang="es-ES_tradnl" noProof="0" dirty="0"/>
              <a:t>19. </a:t>
            </a:r>
            <a:r>
              <a:rPr lang="es-ES_tradnl" noProof="0" dirty="0" err="1"/>
              <a:t>Chess</a:t>
            </a:r>
            <a:r>
              <a:rPr lang="es-ES_tradnl" noProof="0" dirty="0"/>
              <a:t> NLP</a:t>
            </a:r>
          </a:p>
          <a:p>
            <a:pPr lvl="2"/>
            <a:r>
              <a:rPr lang="es-ES_tradnl" noProof="0" dirty="0"/>
              <a:t>Entrenar un modelo para jugar Ajedrez</a:t>
            </a:r>
          </a:p>
          <a:p>
            <a:r>
              <a:rPr lang="es-ES_tradnl" noProof="0" dirty="0"/>
              <a:t>20. LLM-ASR</a:t>
            </a:r>
          </a:p>
          <a:p>
            <a:r>
              <a:rPr lang="es-ES_tradnl" noProof="0" dirty="0"/>
              <a:t>21. Modelo Multimodal Texto/Audio</a:t>
            </a:r>
          </a:p>
          <a:p>
            <a:pPr lvl="2"/>
            <a:r>
              <a:rPr lang="es-ES_tradnl" noProof="0" dirty="0"/>
              <a:t>Entrenar un modelo multimodal texto-audio</a:t>
            </a:r>
          </a:p>
          <a:p>
            <a:r>
              <a:rPr lang="es-ES_tradnl" noProof="0" dirty="0"/>
              <a:t>22. </a:t>
            </a:r>
            <a:r>
              <a:rPr lang="es-ES_tradnl" noProof="0" dirty="0" err="1"/>
              <a:t>RAGs</a:t>
            </a:r>
            <a:r>
              <a:rPr lang="es-ES_tradnl" noProof="0" dirty="0"/>
              <a:t> diversos (noticias, regulaciones nucleares, apuntes, leyes, etc.)</a:t>
            </a:r>
          </a:p>
          <a:p>
            <a:r>
              <a:rPr lang="es-ES_tradnl" noProof="0" dirty="0"/>
              <a:t>23. </a:t>
            </a:r>
            <a:r>
              <a:rPr lang="es-ES_tradnl" noProof="0" dirty="0" err="1"/>
              <a:t>Edg</a:t>
            </a:r>
            <a:r>
              <a:rPr lang="es-ES_tradnl" noProof="0" dirty="0"/>
              <a:t> GPT- Fine </a:t>
            </a:r>
            <a:r>
              <a:rPr lang="es-ES_tradnl" noProof="0" dirty="0" err="1"/>
              <a:t>tuning</a:t>
            </a:r>
            <a:r>
              <a:rPr lang="es-ES_tradnl" noProof="0" dirty="0"/>
              <a:t> GPT para contestar sarcásticamente con data sintética</a:t>
            </a:r>
          </a:p>
          <a:p>
            <a:r>
              <a:rPr lang="es-ES_tradnl" noProof="0" dirty="0"/>
              <a:t>24. Generador de letras de canciones.</a:t>
            </a:r>
          </a:p>
          <a:p>
            <a:pPr lvl="2"/>
            <a:r>
              <a:rPr lang="es-ES_tradnl" noProof="0" dirty="0"/>
              <a:t>Modelo fine tuneado para generar letras con el estilo de cantantes determinados </a:t>
            </a:r>
          </a:p>
          <a:p>
            <a:r>
              <a:rPr lang="es-ES_tradnl" noProof="0" dirty="0"/>
              <a:t>25. Extracción de </a:t>
            </a:r>
            <a:r>
              <a:rPr lang="es-ES_tradnl" noProof="0" dirty="0" err="1"/>
              <a:t>features</a:t>
            </a:r>
            <a:r>
              <a:rPr lang="es-ES_tradnl" noProof="0" dirty="0"/>
              <a:t> mono semánticas en un </a:t>
            </a:r>
            <a:r>
              <a:rPr lang="es-ES_tradnl" noProof="0" dirty="0" err="1"/>
              <a:t>transformer</a:t>
            </a:r>
            <a:endParaRPr lang="es-ES_tradnl" noProof="0" dirty="0"/>
          </a:p>
          <a:p>
            <a:pPr lvl="2"/>
            <a:r>
              <a:rPr lang="es-ES_tradnl" noProof="0" dirty="0"/>
              <a:t>Estudiar las activaciones de la matriz de atención para descubrir el </a:t>
            </a:r>
            <a:r>
              <a:rPr lang="es-ES_tradnl" noProof="0" dirty="0" err="1"/>
              <a:t>topico</a:t>
            </a:r>
            <a:r>
              <a:rPr lang="es-ES_tradnl" noProof="0" dirty="0"/>
              <a:t> del input</a:t>
            </a:r>
          </a:p>
        </p:txBody>
      </p:sp>
    </p:spTree>
    <p:extLst>
      <p:ext uri="{BB962C8B-B14F-4D97-AF65-F5344CB8AC3E}">
        <p14:creationId xmlns:p14="http://schemas.microsoft.com/office/powerpoint/2010/main" val="860152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DF8A-8CDB-9554-F2DD-1B7E6D2D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E7DF-B252-59FE-DEAB-C6D75C6E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5D7A2-147F-C36A-094A-AF3D6D374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/>
              <a:t>26</a:t>
            </a:r>
            <a:r>
              <a:rPr lang="es-ES_tradnl" noProof="0" dirty="0"/>
              <a:t>. Generación de </a:t>
            </a:r>
            <a:r>
              <a:rPr lang="es-ES_tradnl" noProof="0" dirty="0" err="1"/>
              <a:t>guines</a:t>
            </a:r>
            <a:r>
              <a:rPr lang="es-ES_tradnl" noProof="0" dirty="0"/>
              <a:t> de Bob Esponja</a:t>
            </a:r>
          </a:p>
          <a:p>
            <a:r>
              <a:rPr lang="es-ES_tradnl" dirty="0"/>
              <a:t>27</a:t>
            </a:r>
            <a:r>
              <a:rPr lang="es-ES_tradnl" noProof="0" dirty="0"/>
              <a:t>. </a:t>
            </a:r>
            <a:r>
              <a:rPr lang="es-ES_tradnl" noProof="0" dirty="0" err="1"/>
              <a:t>DemocracIA</a:t>
            </a:r>
            <a:endParaRPr lang="es-ES_tradnl" noProof="0" dirty="0"/>
          </a:p>
          <a:p>
            <a:pPr lvl="2"/>
            <a:r>
              <a:rPr lang="es-ES_tradnl" noProof="0" dirty="0"/>
              <a:t>Agente de debate político para redacción de leyes</a:t>
            </a:r>
          </a:p>
          <a:p>
            <a:r>
              <a:rPr lang="es-ES_tradnl" noProof="0" dirty="0"/>
              <a:t>20. Agente de </a:t>
            </a:r>
            <a:r>
              <a:rPr lang="es-ES_tradnl" noProof="0" dirty="0" err="1"/>
              <a:t>investigaci</a:t>
            </a:r>
            <a:r>
              <a:rPr lang="es-ES_tradnl" dirty="0" err="1"/>
              <a:t>ón</a:t>
            </a:r>
            <a:r>
              <a:rPr lang="es-ES_tradnl" dirty="0"/>
              <a:t> </a:t>
            </a:r>
            <a:r>
              <a:rPr lang="es-ES_tradnl" dirty="0" err="1"/>
              <a:t>Biompedica</a:t>
            </a:r>
            <a:endParaRPr lang="es-ES_tradnl" noProof="0" dirty="0"/>
          </a:p>
          <a:p>
            <a:r>
              <a:rPr lang="es-ES_tradnl" noProof="0" dirty="0"/>
              <a:t>21. Asistente UDESA</a:t>
            </a:r>
          </a:p>
          <a:p>
            <a:r>
              <a:rPr lang="es-ES_tradnl" noProof="0" dirty="0"/>
              <a:t>22. Asistente Legal para Jueces</a:t>
            </a:r>
          </a:p>
          <a:p>
            <a:r>
              <a:rPr lang="es-ES_tradnl" noProof="0" dirty="0"/>
              <a:t>23. Asistente Financiero</a:t>
            </a:r>
          </a:p>
          <a:p>
            <a:r>
              <a:rPr lang="es-ES_tradnl" noProof="0" dirty="0"/>
              <a:t>24. Relator de Fútbol</a:t>
            </a:r>
            <a:endParaRPr lang="es-ES_tradnl" dirty="0"/>
          </a:p>
          <a:p>
            <a:r>
              <a:rPr lang="es-ES_tradnl" noProof="0" dirty="0"/>
              <a:t>25. Generador de </a:t>
            </a:r>
            <a:r>
              <a:rPr lang="es-ES_tradnl" noProof="0" dirty="0" err="1"/>
              <a:t>playlist</a:t>
            </a:r>
            <a:r>
              <a:rPr lang="es-ES_tradnl" noProof="0" dirty="0"/>
              <a:t> en Spotify</a:t>
            </a:r>
          </a:p>
          <a:p>
            <a:r>
              <a:rPr lang="es-ES_tradnl" dirty="0"/>
              <a:t>26. </a:t>
            </a:r>
            <a:r>
              <a:rPr lang="es-ES_tradnl" dirty="0" err="1"/>
              <a:t>GPTune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emotions</a:t>
            </a:r>
            <a:endParaRPr lang="es-ES_tradnl" dirty="0"/>
          </a:p>
          <a:p>
            <a:r>
              <a:rPr lang="es-ES_tradnl" noProof="0" dirty="0"/>
              <a:t>27. Asistente personal </a:t>
            </a:r>
          </a:p>
          <a:p>
            <a:r>
              <a:rPr lang="es-ES_tradnl" dirty="0"/>
              <a:t>28. Predictor de Bitcoin</a:t>
            </a:r>
          </a:p>
          <a:p>
            <a:r>
              <a:rPr lang="es-ES_tradnl" noProof="0" dirty="0"/>
              <a:t>30. Texto a SQL.</a:t>
            </a:r>
          </a:p>
        </p:txBody>
      </p:sp>
    </p:spTree>
    <p:extLst>
      <p:ext uri="{BB962C8B-B14F-4D97-AF65-F5344CB8AC3E}">
        <p14:creationId xmlns:p14="http://schemas.microsoft.com/office/powerpoint/2010/main" val="3647537470"/>
      </p:ext>
    </p:extLst>
  </p:cSld>
  <p:clrMapOvr>
    <a:masterClrMapping/>
  </p:clrMapOvr>
</p:sld>
</file>

<file path=ppt/theme/theme1.xml><?xml version="1.0" encoding="utf-8"?>
<a:theme xmlns:a="http://schemas.openxmlformats.org/drawingml/2006/main" name="v02c">
  <a:themeElements>
    <a:clrScheme name="IC-Tech">
      <a:dk1>
        <a:sysClr val="windowText" lastClr="000000"/>
      </a:dk1>
      <a:lt1>
        <a:srgbClr val="5183BD"/>
      </a:lt1>
      <a:dk2>
        <a:srgbClr val="B1B3B6"/>
      </a:dk2>
      <a:lt2>
        <a:srgbClr val="59595B"/>
      </a:lt2>
      <a:accent1>
        <a:srgbClr val="026CB6"/>
      </a:accent1>
      <a:accent2>
        <a:srgbClr val="679146"/>
      </a:accent2>
      <a:accent3>
        <a:srgbClr val="7A68AE"/>
      </a:accent3>
      <a:accent4>
        <a:srgbClr val="F89C57"/>
      </a:accent4>
      <a:accent5>
        <a:srgbClr val="8B0E04"/>
      </a:accent5>
      <a:accent6>
        <a:srgbClr val="007CAD"/>
      </a:accent6>
      <a:hlink>
        <a:srgbClr val="5183BD"/>
      </a:hlink>
      <a:folHlink>
        <a:srgbClr val="5183BD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lIns="18288" tIns="18288" rIns="18288" bIns="45720" rtlCol="0" anchor="b" anchorCtr="0"/>
      <a:lstStyle>
        <a:defPPr algn="r">
          <a:defRPr sz="11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_HCM">
      <a:dk1>
        <a:sysClr val="windowText" lastClr="000000"/>
      </a:dk1>
      <a:lt1>
        <a:srgbClr val="556292"/>
      </a:lt1>
      <a:dk2>
        <a:srgbClr val="46166B"/>
      </a:dk2>
      <a:lt2>
        <a:srgbClr val="717073"/>
      </a:lt2>
      <a:accent1>
        <a:srgbClr val="3869AE"/>
      </a:accent1>
      <a:accent2>
        <a:srgbClr val="E6D450"/>
      </a:accent2>
      <a:accent3>
        <a:srgbClr val="15375E"/>
      </a:accent3>
      <a:accent4>
        <a:srgbClr val="9093B5"/>
      </a:accent4>
      <a:accent5>
        <a:srgbClr val="464646"/>
      </a:accent5>
      <a:accent6>
        <a:srgbClr val="948671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BE67831986F469B8907539BF2BC8F" ma:contentTypeVersion="0" ma:contentTypeDescription="Create a new document." ma:contentTypeScope="" ma:versionID="33a64b2d67104933ade59227693c362e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4.xml><?xml version="1.0" encoding="utf-8"?>
<tns:customPropertyEditors xmlns:tns="http://schemas.microsoft.com/office/2006/customDocumentInformationPanel">
  <tns:showOnOpen>false</tns:showOnOpen>
  <tns:defaultPropertyEditorNamespace>Standard and SharePoint library properties</tns:defaultPropertyEditorNamespace>
</tns:customPropertyEditors>
</file>

<file path=customXml/itemProps1.xml><?xml version="1.0" encoding="utf-8"?>
<ds:datastoreItem xmlns:ds="http://schemas.openxmlformats.org/officeDocument/2006/customXml" ds:itemID="{8F394C09-AF48-4301-B511-167CA3859B1E}">
  <ds:schemaRefs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EA53FB6-4B78-4C5C-A1E5-73DC76AA52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C8E5CB-E4B5-466A-AF35-CA9A87974F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4.xml><?xml version="1.0" encoding="utf-8"?>
<ds:datastoreItem xmlns:ds="http://schemas.openxmlformats.org/officeDocument/2006/customXml" ds:itemID="{3AF6060A-F025-4738-942F-1510E1141302}">
  <ds:schemaRefs>
    <ds:schemaRef ds:uri="http://schemas.microsoft.com/office/2006/customDocumentInformationPanel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101954</TotalTime>
  <Words>2162</Words>
  <Application>Microsoft Macintosh PowerPoint</Application>
  <PresentationFormat>On-screen Show (16:9)</PresentationFormat>
  <Paragraphs>261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Lucida Grande</vt:lpstr>
      <vt:lpstr>Söhne</vt:lpstr>
      <vt:lpstr>Wingdings</vt:lpstr>
      <vt:lpstr>v02c</vt:lpstr>
      <vt:lpstr>PowerPoint Presentation</vt:lpstr>
      <vt:lpstr>Objetivos</vt:lpstr>
      <vt:lpstr>Programa</vt:lpstr>
      <vt:lpstr>Cronograma</vt:lpstr>
      <vt:lpstr>Organización</vt:lpstr>
      <vt:lpstr>Requisitos de Aprobación</vt:lpstr>
      <vt:lpstr>El ideal de la representación simbólica </vt:lpstr>
      <vt:lpstr>De la representación Simbólica a Embeddings</vt:lpstr>
      <vt:lpstr>Modelos de Lenguaje, Embeddings  y Redes Neuronales</vt:lpstr>
      <vt:lpstr>La Revolución del Deep Learning en NLP: El Auge de las Bi-LSTM</vt:lpstr>
      <vt:lpstr>Preentrenamiento, ELMO y embeddings contextuales</vt:lpstr>
      <vt:lpstr>Transformers, BERT y la era de la Atención en NLP</vt:lpstr>
      <vt:lpstr>GPT Modelos Autoregresivos basados en Transformers</vt:lpstr>
      <vt:lpstr>GPT-3/4: Escalabilidad, Zero-shot y Capacidades Emergentes</vt:lpstr>
      <vt:lpstr>ChatGPT, Instructions and RLHF</vt:lpstr>
      <vt:lpstr>De Gigantes a Compactos: Descalando Modelos de Lenguaje</vt:lpstr>
      <vt:lpstr>Prompt Engineering: interactuando con los modelos</vt:lpstr>
      <vt:lpstr>Information Retrieval y RAG</vt:lpstr>
      <vt:lpstr>Tópicos de NLP aplicada (I)</vt:lpstr>
      <vt:lpstr>Tópicos de NLP aplicada (II)</vt:lpstr>
      <vt:lpstr>Algunos Ejemplos TPs</vt:lpstr>
      <vt:lpstr>PowerPoint Presentation</vt:lpstr>
      <vt:lpstr>PowerPoint Presentation</vt:lpstr>
      <vt:lpstr>PowerPoint Presentation</vt:lpstr>
      <vt:lpstr>PowerPoint Presentation</vt:lpstr>
    </vt:vector>
  </TitlesOfParts>
  <Company>Goldman Sachs &amp; 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twong</dc:creator>
  <cp:lastModifiedBy>Luciano Del Corro</cp:lastModifiedBy>
  <cp:revision>460</cp:revision>
  <cp:lastPrinted>2014-10-17T11:38:00Z</cp:lastPrinted>
  <dcterms:created xsi:type="dcterms:W3CDTF">2013-11-25T21:43:07Z</dcterms:created>
  <dcterms:modified xsi:type="dcterms:W3CDTF">2025-09-02T20:16:40Z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opsCleaned">
    <vt:lpwstr>True</vt:lpwstr>
  </property>
  <property fmtid="{D5CDD505-2E9C-101B-9397-08002B2CF9AE}" pid="3" name="Project">
    <vt:lpwstr>root</vt:lpwstr>
  </property>
  <property fmtid="{D5CDD505-2E9C-101B-9397-08002B2CF9AE}" pid="4" name="GSTocLevels">
    <vt:lpwstr>Section;Appendix</vt:lpwstr>
  </property>
  <property fmtid="{D5CDD505-2E9C-101B-9397-08002B2CF9AE}" pid="5" name="GSTocPageNumbers">
    <vt:lpwstr>False</vt:lpwstr>
  </property>
  <property fmtid="{D5CDD505-2E9C-101B-9397-08002B2CF9AE}" pid="6" name="Disposition">
    <vt:lpwstr>False</vt:lpwstr>
  </property>
  <property fmtid="{D5CDD505-2E9C-101B-9397-08002B2CF9AE}" pid="7" name="GSBrandName">
    <vt:lpwstr>IC</vt:lpwstr>
  </property>
  <property fmtid="{D5CDD505-2E9C-101B-9397-08002B2CF9AE}" pid="8" name="ShowHideDoctop">
    <vt:lpwstr>False</vt:lpwstr>
  </property>
  <property fmtid="{D5CDD505-2E9C-101B-9397-08002B2CF9AE}" pid="9" name="ContentTypeId">
    <vt:lpwstr>0x010100E62BE67831986F469B8907539BF2BC8F</vt:lpwstr>
  </property>
  <property fmtid="{D5CDD505-2E9C-101B-9397-08002B2CF9AE}" pid="10" name="TitusGUID">
    <vt:lpwstr>ae35c75f-6232-4d9d-ad78-34dd0c277169</vt:lpwstr>
  </property>
  <property fmtid="{D5CDD505-2E9C-101B-9397-08002B2CF9AE}" pid="11" name="Classification">
    <vt:lpwstr>EB</vt:lpwstr>
  </property>
</Properties>
</file>